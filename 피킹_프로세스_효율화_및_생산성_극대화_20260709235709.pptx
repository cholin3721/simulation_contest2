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3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1905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1f4a72c72c5b107a06ac96fda961013f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143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7810805"/>
            <a:ext cx="16420795" cy="1714500"/>
          </a:xfrm>
          <a:prstGeom prst="roundRect">
            <a:avLst>
              <a:gd name="adj" fmla="val 336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952805" y="7810805"/>
            <a:ext cx="38405" cy="1714500"/>
          </a:xfrm>
          <a:prstGeom prst="roundRect">
            <a:avLst>
              <a:gd name="adj" fmla="val 149999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gen-dedup-780468a5104268741574653e0684263a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1143000" y="2381098"/>
            <a:ext cx="1714500" cy="4754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43000" y="952805"/>
            <a:ext cx="160020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37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THE 23RD KOREA COLLEGIATE COMPUTER SIMULATION COMPETITION · FINALS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1143000" y="1410005"/>
            <a:ext cx="160020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15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제23회 한국 대학생 컴퓨터 시뮬레이션 경진대회 · 본선 발표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2809951"/>
            <a:ext cx="1600200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kern="0" spc="38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(주)K-Logistics 풀필먼트 센터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524098"/>
            <a:ext cx="16002000" cy="209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0" b="1" kern="0" spc="-150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피킹 프로세스 효율화</a:t>
            </a:r>
            <a:endParaRPr lang="en-US" sz="7200" dirty="0"/>
          </a:p>
          <a:p>
            <a:pPr marL="0" indent="0" algn="l">
              <a:buNone/>
            </a:pPr>
            <a:r>
              <a:rPr lang="en-US" sz="7200" b="1" kern="0" spc="-150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및 생산성 극대화</a:t>
            </a:r>
            <a:endParaRPr lang="en-US" sz="72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6476695"/>
            <a:ext cx="16002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kern="0" spc="15" dirty="0">
                <a:solidFill>
                  <a:srgbClr val="E0EB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Zero-Cost 운영 로직 기반 병목 해소 · AnyLogic PLE 시뮬레이션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524305" y="8096098"/>
            <a:ext cx="49533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TEAM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524305" y="8382305"/>
            <a:ext cx="4953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인하이트 (Inhite)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1524305" y="8991295"/>
            <a:ext cx="4953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김철중 · 김시현 · 정민재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8096098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SCHOOL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0" y="8382305"/>
            <a:ext cx="5715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인하공업전문대학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0" y="8801100"/>
            <a:ext cx="571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컴퓨터정보공학과 · 지도교수 조규철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2954305" y="8096098"/>
            <a:ext cx="38103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DATE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12954305" y="8382305"/>
            <a:ext cx="3810305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2026. 05. 17.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12954305" y="8801100"/>
            <a:ext cx="3810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본선 발표 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2805" y="9773107"/>
            <a:ext cx="226222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6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K-LOGISTICS · SIMULATION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162374" y="9763049"/>
            <a:ext cx="73609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8288000" cy="104790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52805" y="3095244"/>
            <a:ext cx="5143500" cy="2381098"/>
          </a:xfrm>
          <a:prstGeom prst="roundRect">
            <a:avLst>
              <a:gd name="adj" fmla="val 3187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52805" y="3095244"/>
            <a:ext cx="5143500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476695" y="3095244"/>
            <a:ext cx="5143500" cy="2381098"/>
          </a:xfrm>
          <a:prstGeom prst="roundRect">
            <a:avLst>
              <a:gd name="adj" fmla="val 3187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476695" y="3095244"/>
            <a:ext cx="5143500" cy="38405"/>
          </a:xfrm>
          <a:prstGeom prst="roundRect">
            <a:avLst>
              <a:gd name="adj" fmla="val 197618"/>
            </a:avLst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2001500" y="3095244"/>
            <a:ext cx="5333695" cy="2381098"/>
          </a:xfrm>
          <a:prstGeom prst="roundRect">
            <a:avLst>
              <a:gd name="adj" fmla="val 3187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2001500" y="3095244"/>
            <a:ext cx="5333695" cy="38405"/>
          </a:xfrm>
          <a:prstGeom prst="roundRect">
            <a:avLst>
              <a:gd name="adj" fmla="val 197618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52805" y="5952744"/>
            <a:ext cx="16383305" cy="3238805"/>
          </a:xfrm>
          <a:prstGeom prst="roundRect">
            <a:avLst>
              <a:gd name="adj" fmla="val 2343"/>
            </a:avLst>
          </a:prstGeom>
          <a:solidFill>
            <a:srgbClr val="EEF2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52805" y="5952744"/>
            <a:ext cx="38405" cy="3238805"/>
          </a:xfrm>
          <a:prstGeom prst="roundRect">
            <a:avLst>
              <a:gd name="adj" fmla="val 197618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0" descr="gen-dedup-809cc88aa64e0cfb0b6be5dae97d77f2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1047902"/>
            <a:ext cx="18288000" cy="3840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952805" y="286207"/>
            <a:ext cx="16383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2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 · 문제 배경 및 목표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52805" y="552298"/>
            <a:ext cx="163833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2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다품종 소량 주문 시대, 피킹 병목이 처리량을 정한다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472184"/>
            <a:ext cx="16383305" cy="110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5"/>
              </a:lnSpc>
              <a:buNone/>
            </a:pPr>
            <a:r>
              <a:rPr lang="en-US" sz="16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(주)K-Logistics 풀필먼트 센터는 </a:t>
            </a:r>
            <a:r>
              <a:rPr lang="en-US" sz="16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전국 60개 </a:t>
            </a:r>
            <a:r>
              <a:rPr lang="en-US" sz="1600" b="1" dirty="0" err="1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지점의</a:t>
            </a:r>
            <a:r>
              <a:rPr lang="en-US" sz="16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en-US" sz="1600" b="1" dirty="0" err="1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하루</a:t>
            </a:r>
            <a:r>
              <a:rPr lang="en-US" sz="16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8,858박스</a:t>
            </a:r>
            <a:r>
              <a:rPr lang="en-US" sz="16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를 제함 → 피킹 → 봉함 → 팔레타이징 순서로 처리하는 허브 물류센터다.</a:t>
            </a:r>
            <a:endParaRPr lang="en-US" sz="1600" dirty="0"/>
          </a:p>
          <a:p>
            <a:pPr marL="0" indent="0" algn="l">
              <a:lnSpc>
                <a:spcPts val="2805"/>
              </a:lnSpc>
              <a:buNone/>
            </a:pPr>
            <a:r>
              <a:rPr lang="en-US" sz="1600" b="1" dirty="0">
                <a:solidFill>
                  <a:srgbClr val="1D4E89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기존 하드웨어 변경 없이 운영 로직만 개선</a:t>
            </a:r>
            <a:r>
              <a:rPr lang="en-US" sz="16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하여 작업 완료 시간을 단축한다.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333195" y="3381451"/>
            <a:ext cx="4381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SCOPE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333195" y="3762756"/>
            <a:ext cx="4381805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60</a:t>
            </a:r>
            <a:r>
              <a:rPr lang="en-US" sz="1900" b="1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 지점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333195" y="4674413"/>
            <a:ext cx="4381805" cy="650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7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Type A 30 · Type B 20 · Type C 10</a:t>
            </a:r>
            <a:endParaRPr lang="en-US" sz="1200" dirty="0"/>
          </a:p>
          <a:p>
            <a:pPr marL="0" indent="0" algn="l">
              <a:lnSpc>
                <a:spcPts val="2167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총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8,858 박스/일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0" y="3381451"/>
            <a:ext cx="4381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AS-IS 병목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0" y="3762756"/>
            <a:ext cx="4381805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2.9</a:t>
            </a:r>
            <a:r>
              <a:rPr lang="en-US" sz="1900" b="1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%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0" y="4674413"/>
            <a:ext cx="4381805" cy="650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7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5시간 내 처리 완료 박스</a:t>
            </a:r>
            <a:endParaRPr lang="en-US" sz="1200" dirty="0"/>
          </a:p>
          <a:p>
            <a:pPr marL="0" indent="0" algn="l">
              <a:lnSpc>
                <a:spcPts val="2167"/>
              </a:lnSpc>
              <a:buNone/>
            </a:pP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256 / 8,858 박스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(8 팔레트)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2382805" y="3381451"/>
            <a:ext cx="457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TO-BE 성과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12382805" y="3762756"/>
            <a:ext cx="45720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+150</a:t>
            </a:r>
            <a:r>
              <a:rPr lang="en-US" sz="1900" b="1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% 처리량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2382805" y="4674413"/>
            <a:ext cx="4572000" cy="650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7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1.6 → 4.0 팔레트/hr · AGV 40→25대</a:t>
            </a:r>
            <a:endParaRPr lang="en-US" sz="1200" dirty="0"/>
          </a:p>
          <a:p>
            <a:pPr marL="0" indent="0" algn="l">
              <a:lnSpc>
                <a:spcPts val="2167"/>
              </a:lnSpc>
              <a:buNone/>
            </a:pP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Zero-Cost 로직 개선만으로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429207" y="6286500"/>
            <a:ext cx="154305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본 연구의 목표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429207" y="6674206"/>
            <a:ext cx="15430500" cy="227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83"/>
              </a:lnSpc>
              <a:buNone/>
            </a:pPr>
            <a:r>
              <a:rPr lang="en-US" sz="1600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① AnyLogic PLE 시뮬레이션으로 AS-IS 병목 원인을 </a:t>
            </a:r>
            <a:r>
              <a:rPr lang="en-US" sz="16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정량 분석</a:t>
            </a:r>
            <a:r>
              <a:rPr lang="en-US" sz="1600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한다.</a:t>
            </a:r>
            <a:endParaRPr lang="en-US" sz="1600" dirty="0"/>
          </a:p>
          <a:p>
            <a:pPr marL="0" indent="0" algn="l">
              <a:lnSpc>
                <a:spcPts val="3383"/>
              </a:lnSpc>
              <a:buNone/>
            </a:pPr>
            <a:r>
              <a:rPr lang="en-US" sz="1600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② 제함기 부하 분산 · AGV 운영 최적화 · 파렛타이저 슬롯 동적 </a:t>
            </a:r>
            <a:r>
              <a:rPr lang="en-US" sz="1600" dirty="0" err="1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배정의</a:t>
            </a:r>
            <a:r>
              <a:rPr lang="en-US" sz="1600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ko-KR" altLang="en-US" sz="16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세</a:t>
            </a:r>
            <a:r>
              <a:rPr lang="en-US" sz="16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en-US" sz="1600" b="1" dirty="0" err="1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가지</a:t>
            </a:r>
            <a:r>
              <a:rPr lang="en-US" sz="16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ko-KR" altLang="en-US" sz="16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운영 개선과 안정화</a:t>
            </a:r>
            <a:r>
              <a:rPr lang="ko-KR" altLang="en-US" sz="1600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를</a:t>
            </a:r>
            <a:r>
              <a:rPr lang="en-US" sz="1600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설계·검증한다.</a:t>
            </a:r>
            <a:endParaRPr lang="en-US" sz="1600" dirty="0"/>
          </a:p>
          <a:p>
            <a:pPr marL="0" indent="0" algn="l">
              <a:lnSpc>
                <a:spcPts val="3383"/>
              </a:lnSpc>
              <a:buNone/>
            </a:pPr>
            <a:r>
              <a:rPr lang="en-US" sz="1600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③ 추가 설비 투자 없이 </a:t>
            </a:r>
            <a:r>
              <a:rPr lang="en-US" sz="16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작업 완료 시간을 단축</a:t>
            </a:r>
            <a:r>
              <a:rPr lang="en-US" sz="1600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하고 시간당 처리량을 극대화한다.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2805" y="9773107"/>
            <a:ext cx="226222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6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K-LOGISTICS · SIMULATION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162374" y="9763049"/>
            <a:ext cx="73609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8288000" cy="104790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52805" y="1904695"/>
            <a:ext cx="3810305" cy="1809598"/>
          </a:xfrm>
          <a:prstGeom prst="roundRect">
            <a:avLst>
              <a:gd name="adj" fmla="val 4194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52805" y="1904695"/>
            <a:ext cx="3810305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143500" y="1904695"/>
            <a:ext cx="3810305" cy="1809598"/>
          </a:xfrm>
          <a:prstGeom prst="roundRect">
            <a:avLst>
              <a:gd name="adj" fmla="val 4194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143500" y="1904695"/>
            <a:ext cx="3810305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334195" y="1904695"/>
            <a:ext cx="3810305" cy="1809598"/>
          </a:xfrm>
          <a:prstGeom prst="roundRect">
            <a:avLst>
              <a:gd name="adj" fmla="val 4194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34195" y="1904695"/>
            <a:ext cx="3810305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3525805" y="1904695"/>
            <a:ext cx="3810305" cy="1809598"/>
          </a:xfrm>
          <a:prstGeom prst="roundRect">
            <a:avLst>
              <a:gd name="adj" fmla="val 4194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3525805" y="1904695"/>
            <a:ext cx="3810305" cy="38405"/>
          </a:xfrm>
          <a:prstGeom prst="roundRect">
            <a:avLst>
              <a:gd name="adj" fmla="val 197618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52805" y="4858207"/>
            <a:ext cx="8191195" cy="2095805"/>
          </a:xfrm>
          <a:prstGeom prst="roundRect">
            <a:avLst>
              <a:gd name="adj" fmla="val 3621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52805" y="4858207"/>
            <a:ext cx="38405" cy="20958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334195" y="4858207"/>
            <a:ext cx="8001000" cy="2095805"/>
          </a:xfrm>
          <a:prstGeom prst="roundRect">
            <a:avLst>
              <a:gd name="adj" fmla="val 3621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334195" y="4858207"/>
            <a:ext cx="38405" cy="2095805"/>
          </a:xfrm>
          <a:prstGeom prst="roundRect">
            <a:avLst>
              <a:gd name="adj" fmla="val 197618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52805" y="7381951"/>
            <a:ext cx="16383305" cy="1714500"/>
          </a:xfrm>
          <a:prstGeom prst="roundRect">
            <a:avLst>
              <a:gd name="adj" fmla="val 4427"/>
            </a:avLst>
          </a:prstGeom>
          <a:solidFill>
            <a:srgbClr val="EEF2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52805" y="7381951"/>
            <a:ext cx="38405" cy="1714500"/>
          </a:xfrm>
          <a:prstGeom prst="roundRect">
            <a:avLst>
              <a:gd name="adj" fmla="val 197618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0" descr="gen-dedup-809cc88aa64e0cfb0b6be5dae97d77f2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1047902"/>
            <a:ext cx="18288000" cy="38405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4858207" y="2714854"/>
            <a:ext cx="24780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9048902" y="2714854"/>
            <a:ext cx="24780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13239598" y="2714854"/>
            <a:ext cx="24780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952805" y="286207"/>
            <a:ext cx="16383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2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 · 시스템 및 프로세스 개요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5" y="552298"/>
            <a:ext cx="163833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2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4단계 물류 흐름 — 제함 → 피킹 → 봉함 → 팔레타이징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952805" y="1524305"/>
            <a:ext cx="38103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FLOW · 4 STAGES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238098" y="2143354"/>
            <a:ext cx="3238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1D4E89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STAGE 01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238098" y="2428646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 Box Making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1238098" y="2901391"/>
            <a:ext cx="32388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3대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·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30 box/min</a:t>
            </a:r>
            <a:endParaRPr lang="en-US" sz="1200" dirty="0"/>
          </a:p>
          <a:p>
            <a:pPr marL="0" indent="0" algn="l">
              <a:lnSpc>
                <a:spcPts val="204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(2초/box)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29707" y="2143354"/>
            <a:ext cx="3238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1D4E89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STAGE 02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5429707" y="2428646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피킹 Picking</a:t>
            </a:r>
            <a:endParaRPr lang="en-US" sz="1900" dirty="0"/>
          </a:p>
        </p:txBody>
      </p:sp>
      <p:sp>
        <p:nvSpPr>
          <p:cNvPr id="31" name="Text 28"/>
          <p:cNvSpPr txBox="1"/>
          <p:nvPr/>
        </p:nvSpPr>
        <p:spPr>
          <a:xfrm>
            <a:off x="5429707" y="2901391"/>
            <a:ext cx="32388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S/A: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40대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(1.5m/s)</a:t>
            </a:r>
            <a:endParaRPr lang="en-US" sz="1200" dirty="0"/>
          </a:p>
          <a:p>
            <a:pPr marL="0" indent="0" algn="l">
              <a:lnSpc>
                <a:spcPts val="204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B/C: 컨베이어 0.5m/s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9620402" y="2143354"/>
            <a:ext cx="3238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1D4E89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STAGE 03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9620402" y="2428646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봉함 Sealing</a:t>
            </a:r>
            <a:endParaRPr lang="en-US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9620402" y="2933395"/>
            <a:ext cx="323880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봉함기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3대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·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 box/min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13811098" y="2143354"/>
            <a:ext cx="3238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STAGE 04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3811098" y="2428646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팔레타이징</a:t>
            </a:r>
            <a:endParaRPr lang="en-US" sz="1900" dirty="0"/>
          </a:p>
        </p:txBody>
      </p:sp>
      <p:sp>
        <p:nvSpPr>
          <p:cNvPr id="37" name="Text 34"/>
          <p:cNvSpPr txBox="1"/>
          <p:nvPr/>
        </p:nvSpPr>
        <p:spPr>
          <a:xfrm>
            <a:off x="13811098" y="2901391"/>
            <a:ext cx="32388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2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파렛타이저 </a:t>
            </a:r>
            <a:r>
              <a:rPr lang="en-US" sz="12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2대 × 2슬롯 = 4슬롯</a:t>
            </a:r>
            <a:endParaRPr lang="en-US" sz="1200" dirty="0"/>
          </a:p>
          <a:p>
            <a:pPr marL="0" indent="0" algn="l">
              <a:lnSpc>
                <a:spcPts val="2040"/>
              </a:lnSpc>
              <a:buNone/>
            </a:pPr>
            <a:r>
              <a:rPr lang="en-US" sz="12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15 box/min · 팔레트당 최대 32박스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952805" y="4429354"/>
            <a:ext cx="38103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SKU 등급별 경로 분기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1333195" y="5143500"/>
            <a:ext cx="7525512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S/A 포함 : 이론 91.6% · 실제 DB 91.7% 일치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1333195" y="5530291"/>
            <a:ext cx="7525512" cy="1328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1 또는 2에서 생성 → </a:t>
            </a:r>
            <a:r>
              <a:rPr lang="en-US" sz="12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가 S/A급 스테이션(S 3개 + A 7개)으로 운반</a:t>
            </a:r>
            <a:endParaRPr lang="en-US" sz="12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S/A 피킹 완료 후 박스 투입구3을 통해 B/C 라인과 합류</a:t>
            </a:r>
            <a:endParaRPr lang="en-US" sz="12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 50% · A 50% 독립 + 빈 주문→S급 규칙 → 이론 P(S/A) = 0.75 + 0.166 = 0.916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9715500" y="5143500"/>
            <a:ext cx="7334402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B/C 전용 : 이론 8.4% · 실제 DB 8.3%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9715500" y="5530291"/>
            <a:ext cx="7334402" cy="1328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에서 생성 → </a:t>
            </a:r>
            <a:r>
              <a:rPr lang="en-US" sz="12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컨베이어벨트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로 B/C급 스테이션 이동</a:t>
            </a:r>
            <a:endParaRPr lang="en-US" sz="12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B급 스테이션 4개 + C급 거대 존(선반 4동 = 논리적 1 스테이션)</a:t>
            </a:r>
            <a:endParaRPr lang="en-US" sz="12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SKU 포함 확률 : B 30% · C 5%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429207" y="7667244"/>
            <a:ext cx="154305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8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주요 설비 제원 (문제 스펙)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429207" y="8003743"/>
            <a:ext cx="15430500" cy="99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31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: 이동 속도 최대 1.5 m/s (가감속 1 m/s²) · 적재/하역 각 5초</a:t>
            </a:r>
            <a:endParaRPr lang="en-US" sz="1200" dirty="0"/>
          </a:p>
          <a:p>
            <a:pPr marL="0" indent="0" algn="l">
              <a:lnSpc>
                <a:spcPts val="2231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컨베이어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: 0.5 m/s 정속 ·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봉함기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: 25 box/min ·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파렛타이저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: 15 box/min (2개 지점 동시 적재, 팔레트당 최대 32박스)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2805" y="9773107"/>
            <a:ext cx="226222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6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K-LOGISTICS · SIMULATION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162374" y="9763049"/>
            <a:ext cx="73609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04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8288000" cy="104790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52805" y="1524305"/>
            <a:ext cx="16383305" cy="1904695"/>
          </a:xfrm>
          <a:prstGeom prst="roundRect">
            <a:avLst>
              <a:gd name="adj" fmla="val 3985"/>
            </a:avLst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667305" y="4286707"/>
            <a:ext cx="13334695" cy="209398"/>
          </a:xfrm>
          <a:prstGeom prst="roundRect">
            <a:avLst>
              <a:gd name="adj" fmla="val 13537"/>
            </a:avLst>
          </a:prstGeom>
          <a:solidFill>
            <a:srgbClr val="E8EC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2667305" y="4762195"/>
            <a:ext cx="13334695" cy="209398"/>
          </a:xfrm>
          <a:prstGeom prst="roundRect">
            <a:avLst>
              <a:gd name="adj" fmla="val 13537"/>
            </a:avLst>
          </a:prstGeom>
          <a:solidFill>
            <a:srgbClr val="E8EC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667305" y="5238598"/>
            <a:ext cx="13334695" cy="209398"/>
          </a:xfrm>
          <a:prstGeom prst="roundRect">
            <a:avLst>
              <a:gd name="adj" fmla="val 13537"/>
            </a:avLst>
          </a:prstGeom>
          <a:solidFill>
            <a:srgbClr val="E8EC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gen-dedup-809cc88aa64e0cfb0b6be5dae97d77f2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1047902"/>
            <a:ext cx="18288000" cy="3840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667305" y="4286707"/>
            <a:ext cx="13334695" cy="209398"/>
          </a:xfrm>
          <a:prstGeom prst="roundRect">
            <a:avLst>
              <a:gd name="adj" fmla="val 13537"/>
            </a:avLst>
          </a:prstGeom>
          <a:solidFill>
            <a:srgbClr val="C039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2667305" y="4762195"/>
            <a:ext cx="57607" cy="209398"/>
          </a:xfrm>
          <a:prstGeom prst="roundRect">
            <a:avLst>
              <a:gd name="adj" fmla="val 49207"/>
            </a:avLst>
          </a:prstGeom>
          <a:solidFill>
            <a:srgbClr val="6B748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2667305" y="5238598"/>
            <a:ext cx="57607" cy="209398"/>
          </a:xfrm>
          <a:prstGeom prst="roundRect">
            <a:avLst>
              <a:gd name="adj" fmla="val 49207"/>
            </a:avLst>
          </a:prstGeom>
          <a:solidFill>
            <a:srgbClr val="6B748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952805" y="286207"/>
            <a:ext cx="16383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2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 · AS-IS 병목 진단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52805" y="552298"/>
            <a:ext cx="163833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2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한 줄의 라우팅 조건이 처리량 전체를 결박한다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1809598"/>
            <a:ext cx="156216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ROOT CAUSE · AnyLogic selectOutput 조건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333195" y="2133295"/>
            <a:ext cx="15621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(agent.sSkuCnt &gt; 0 || agent.aSkuCnt &gt; 0) → </a:t>
            </a:r>
            <a:r>
              <a:rPr lang="en-US" sz="1900" dirty="0">
                <a:solidFill>
                  <a:srgbClr val="F0A5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제함기 1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1333195" y="2666390"/>
            <a:ext cx="1562161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2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S/A 포함 박스 91.7%(DB)가 제함기1로 몰림 · 제함기2는 S와 A가 동시에 없는 경우에만 후보</a:t>
            </a:r>
            <a:endParaRPr lang="en-US" sz="1200" dirty="0"/>
          </a:p>
          <a:p>
            <a:pPr marL="0" indent="0" algn="l">
              <a:lnSpc>
                <a:spcPts val="2040"/>
              </a:lnSpc>
              <a:buNone/>
            </a:pPr>
            <a:r>
              <a:rPr lang="en-US" sz="12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B/C 전용은 제함기3이 처리 → 실질적으로 제함기2는 미가동(0%)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52805" y="3810305"/>
            <a:ext cx="76206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부하 실측 (AS-IS, 5시간 기준)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52805" y="4286707"/>
            <a:ext cx="14292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6192195" y="4286707"/>
            <a:ext cx="1334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≈ 100%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52805" y="4762195"/>
            <a:ext cx="14292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2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192195" y="4762195"/>
            <a:ext cx="1334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≈ 0%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52805" y="5238598"/>
            <a:ext cx="14292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6192195" y="5238598"/>
            <a:ext cx="1334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≈ 0%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52805" y="6048756"/>
            <a:ext cx="76206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병목의 연쇄 (표 3, 5)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6476695"/>
          <a:ext cx="16382390" cy="1843657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6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48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병목 지점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원인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영향 · 5시간 실적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971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제함기 1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S/A 박스 91.7% (DB) 단독 처리 (라우팅 편중)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AGV 대기, 처리량 급감 → 완료 </a:t>
                      </a: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8 팔레트 · 256 박스 (2.9%)</a:t>
                      </a:r>
                      <a:endParaRPr lang="en-US" sz="1200" dirty="0"/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71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AGV 배차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40대 운영이나 우선순위 조건 없음 → 먼 AGV까지 동등 배차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불필요한 공주행 증가 · 평균 가동률 약 </a:t>
                      </a: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23%</a:t>
                      </a:r>
                      <a:endParaRPr lang="en-US" sz="1200" dirty="0"/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71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파렛타이저 슬롯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정적 슬롯 배정 → 대량 주문 지점이 슬롯 장기 점유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유휴 슬롯 발생 · 처리량 손실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2805" y="9773107"/>
            <a:ext cx="226222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6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K-LOGISTICS · SIMULATION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162374" y="9763049"/>
            <a:ext cx="73609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05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8288000" cy="104790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905695" y="1904695"/>
            <a:ext cx="7429500" cy="1238098"/>
          </a:xfrm>
          <a:prstGeom prst="roundRect">
            <a:avLst>
              <a:gd name="adj" fmla="val 6130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905695" y="1904695"/>
            <a:ext cx="38405" cy="1238098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905695" y="3295498"/>
            <a:ext cx="7429500" cy="1238098"/>
          </a:xfrm>
          <a:prstGeom prst="roundRect">
            <a:avLst>
              <a:gd name="adj" fmla="val 6130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905695" y="3295498"/>
            <a:ext cx="38405" cy="1238098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905695" y="4686300"/>
            <a:ext cx="7429500" cy="1238098"/>
          </a:xfrm>
          <a:prstGeom prst="roundRect">
            <a:avLst>
              <a:gd name="adj" fmla="val 6130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905695" y="4686300"/>
            <a:ext cx="38405" cy="1238098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905695" y="6096305"/>
            <a:ext cx="7429500" cy="2667305"/>
          </a:xfrm>
          <a:prstGeom prst="roundRect">
            <a:avLst>
              <a:gd name="adj" fmla="val 2845"/>
            </a:avLst>
          </a:prstGeom>
          <a:solidFill>
            <a:srgbClr val="EEF2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905695" y="6096305"/>
            <a:ext cx="38405" cy="2667305"/>
          </a:xfrm>
          <a:prstGeom prst="roundRect">
            <a:avLst>
              <a:gd name="adj" fmla="val 197618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0" descr="gen-dedup-809cc88aa64e0cfb0b6be5dae97d77f2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1047902"/>
            <a:ext cx="18288000" cy="3840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952805" y="286207"/>
            <a:ext cx="16383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2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04 · 모델링 범위 및 주요 가정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52805" y="552298"/>
            <a:ext cx="163833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2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동일한 입력, 동일한 제약 — 두 모델을 공정하게 비교한다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524305"/>
            <a:ext cx="85725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시뮬레이션 설정 (표 4)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313578"/>
              </p:ext>
            </p:extLst>
          </p:nvPr>
        </p:nvGraphicFramePr>
        <p:xfrm>
          <a:off x="952805" y="1904695"/>
          <a:ext cx="8572500" cy="2334465"/>
        </p:xfrm>
        <a:graphic>
          <a:graphicData uri="http://schemas.openxmlformats.org/drawingml/2006/table">
            <a:tbl>
              <a:tblPr/>
              <a:tblGrid>
                <a:gridCol w="3047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4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6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시뮬레이션 엔진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AnyLogic PLE 8.9.8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시뮬레이션 시간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18,000초 (5시간)</a:t>
                      </a: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 · PLE 상한</a:t>
                      </a:r>
                      <a:endParaRPr lang="en-US" sz="1200" dirty="0"/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총 박스 수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8,858 박스 · 60개 지점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AS-IS AGV 대수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40 대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주문 데이터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database/db.script (SHEET1) (동일 입력)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952805" y="5143500"/>
            <a:ext cx="85725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지점 유형별 주문 규모 (표 2)</a:t>
            </a:r>
            <a:endParaRPr lang="en-US" sz="9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5524805"/>
          <a:ext cx="8571585" cy="2306296"/>
        </p:xfrm>
        <a:graphic>
          <a:graphicData uri="http://schemas.openxmlformats.org/drawingml/2006/table">
            <a:tbl>
              <a:tblPr/>
              <a:tblGrid>
                <a:gridCol w="2476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유형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지점 수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지점당 박스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분포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Type A 대형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30 개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180 ~ 200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6B7488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균등 (Uniform)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Type B 중형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20 개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120 ~ 150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6B7488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균등 (Uniform)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Type C 소형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10 개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30 ~ 80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6B7488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균등 (Uniform)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합계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60 개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약 8,858 박스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C9D5EA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—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 15"/>
          <p:cNvSpPr txBox="1"/>
          <p:nvPr/>
        </p:nvSpPr>
        <p:spPr>
          <a:xfrm>
            <a:off x="9905695" y="1524305"/>
            <a:ext cx="74295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성능 지표 정의 (표 7)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0287000" y="2095805"/>
            <a:ext cx="68580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최우선 지표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0287000" y="2343607"/>
            <a:ext cx="6858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작업 완료 시간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10287000" y="2723998"/>
            <a:ext cx="68580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첫 박스 제함 시작 ~ 마지막 박스 파렛타이징 완료까지의 총 소요 시간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10287000" y="3486607"/>
            <a:ext cx="68580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C884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높은 우선순위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0287000" y="3733495"/>
            <a:ext cx="6858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시간당 처리량 (박스 / Qty)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10287000" y="4114800"/>
            <a:ext cx="68580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총 처리 박스 수 · 총 처리 SKU 수량 ÷ 작업 완료 시간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0287000" y="4876495"/>
            <a:ext cx="68580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보조 지표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10287000" y="5124298"/>
            <a:ext cx="6858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가동률 · 슬롯 점유 효율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287000" y="5505602"/>
            <a:ext cx="68580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이동+작업 시간 비율 · 슬롯 점유시간 합 ÷ (4슬롯 × 전체 시간)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10287000" y="6381598"/>
            <a:ext cx="68580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모델링 주요 가정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10287000" y="6685178"/>
            <a:ext cx="6858000" cy="1944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9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S 50% · A 50% · B 30% · C 5% 독립 사건</a:t>
            </a:r>
            <a:endParaRPr lang="en-US" sz="1100" dirty="0"/>
          </a:p>
          <a:p>
            <a:pPr marL="0" indent="0" algn="l">
              <a:lnSpc>
                <a:spcPts val="1969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빈 주문→S급 규칙 반영 이론 91.6% = 실제 DB 91.7%</a:t>
            </a:r>
            <a:endParaRPr lang="en-US" sz="1100" dirty="0"/>
          </a:p>
          <a:p>
            <a:pPr marL="0" indent="0" algn="l">
              <a:lnSpc>
                <a:spcPts val="1969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전체 완료 시간은 5시간 초과 → PLE 제한 내 실측 처리량으로 비교</a:t>
            </a:r>
            <a:endParaRPr lang="en-US" sz="1100" dirty="0"/>
          </a:p>
          <a:p>
            <a:pPr marL="0" indent="0" algn="l">
              <a:lnSpc>
                <a:spcPts val="1969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두 모델은 동일 주문 데이터 · 설비 스펙에서 운영 로직만 변경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2805" y="9773107"/>
            <a:ext cx="226222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6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K-LOGISTICS · SIMULATION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167860" y="9763049"/>
            <a:ext cx="735178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06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8288000" cy="104790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52805" y="2619756"/>
            <a:ext cx="8191195" cy="2667305"/>
          </a:xfrm>
          <a:prstGeom prst="roundRect">
            <a:avLst>
              <a:gd name="adj" fmla="val 2845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52805" y="2619756"/>
            <a:ext cx="8191195" cy="38405"/>
          </a:xfrm>
          <a:prstGeom prst="roundRect">
            <a:avLst>
              <a:gd name="adj" fmla="val 197618"/>
            </a:avLst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334195" y="2619756"/>
            <a:ext cx="8001000" cy="2667305"/>
          </a:xfrm>
          <a:prstGeom prst="roundRect">
            <a:avLst>
              <a:gd name="adj" fmla="val 2845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334195" y="2619756"/>
            <a:ext cx="8001000" cy="38405"/>
          </a:xfrm>
          <a:prstGeom prst="roundRect">
            <a:avLst>
              <a:gd name="adj" fmla="val 197618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2190902" y="6096305"/>
            <a:ext cx="11430000" cy="228600"/>
          </a:xfrm>
          <a:prstGeom prst="roundRect">
            <a:avLst>
              <a:gd name="adj" fmla="val 12400"/>
            </a:avLst>
          </a:prstGeom>
          <a:solidFill>
            <a:srgbClr val="E8EC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90902" y="6524244"/>
            <a:ext cx="11430000" cy="228600"/>
          </a:xfrm>
          <a:prstGeom prst="roundRect">
            <a:avLst>
              <a:gd name="adj" fmla="val 12400"/>
            </a:avLst>
          </a:prstGeom>
          <a:solidFill>
            <a:srgbClr val="E8EC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52805" y="7524598"/>
            <a:ext cx="16383305" cy="1714500"/>
          </a:xfrm>
          <a:prstGeom prst="roundRect">
            <a:avLst>
              <a:gd name="adj" fmla="val 4427"/>
            </a:avLst>
          </a:prstGeom>
          <a:solidFill>
            <a:srgbClr val="EEF2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52805" y="7524598"/>
            <a:ext cx="38405" cy="1714500"/>
          </a:xfrm>
          <a:prstGeom prst="roundRect">
            <a:avLst>
              <a:gd name="adj" fmla="val 197618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0" descr="gen-dedup-809cc88aa64e0cfb0b6be5dae97d77f2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1047902"/>
            <a:ext cx="18288000" cy="38405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2190902" y="6096305"/>
            <a:ext cx="11430000" cy="228600"/>
          </a:xfrm>
          <a:prstGeom prst="roundRect">
            <a:avLst>
              <a:gd name="adj" fmla="val 12400"/>
            </a:avLst>
          </a:prstGeom>
          <a:solidFill>
            <a:srgbClr val="C039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gen-dedup-638656f3899ffd411285cd9149dd3ce2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90902" y="6524244"/>
            <a:ext cx="10881360" cy="228600"/>
          </a:xfrm>
          <a:prstGeom prst="rect">
            <a:avLst/>
          </a:prstGeom>
        </p:spPr>
      </p:pic>
      <p:pic>
        <p:nvPicPr>
          <p:cNvPr id="16" name="Image 2" descr="gen-dedup-f8d65d85b0cd4eb18d76c578c3ce0b23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3075920" y="6524244"/>
            <a:ext cx="54864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52805" y="286207"/>
            <a:ext cx="16383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2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05 · 개선 전략 ① 제함기 동적 부하 분산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552298"/>
            <a:ext cx="163833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2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대기열이 짧은 제함기를 실시간으로 선택한다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1524305"/>
            <a:ext cx="16383305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AS-IS의 라우팅은 S/A 판정 이후 </a:t>
            </a:r>
            <a:r>
              <a:rPr lang="en-US" sz="15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항상 제함기 1로 분기</a:t>
            </a:r>
            <a:r>
              <a:rPr lang="en-US" sz="15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했다. TO-BE는 두 번째 selectOutput 블록에 </a:t>
            </a:r>
            <a:r>
              <a:rPr lang="en-US" sz="15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실시간 대기열 비교 조건</a:t>
            </a:r>
            <a:r>
              <a:rPr lang="en-US" sz="15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을 추가해 S/A 박스를 두 제함기에 동적으로 분산한다.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1333195" y="2857500"/>
            <a:ext cx="7429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AS-IS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333195" y="3124505"/>
            <a:ext cx="74295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조건 없음 → 항상 제함기 1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1333195" y="3638398"/>
            <a:ext cx="7800746" cy="1009498"/>
          </a:xfrm>
          <a:prstGeom prst="roundRect">
            <a:avLst>
              <a:gd name="adj" fmla="val 5707"/>
            </a:avLst>
          </a:prstGeom>
          <a:solidFill>
            <a:srgbClr val="C0392B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1333195" y="3638398"/>
            <a:ext cx="28346" cy="1009498"/>
          </a:xfrm>
          <a:prstGeom prst="roundRect">
            <a:avLst>
              <a:gd name="adj" fmla="val 203229"/>
            </a:avLst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1333195" y="3610051"/>
            <a:ext cx="7801661" cy="103875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14300" rIns="177800" bIns="114300" rtlCol="0" anchor="t"/>
          <a:lstStyle/>
          <a:p>
            <a:pPr marL="0" indent="0" algn="l">
              <a:lnSpc>
                <a:spcPts val="1976"/>
              </a:lnSpc>
              <a:buNone/>
            </a:pPr>
            <a:r>
              <a:rPr lang="en-US" sz="1200" dirty="0">
                <a:solidFill>
                  <a:srgbClr val="C039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selectOutput1 : (조건 없음)</a:t>
            </a:r>
            <a:endParaRPr lang="en-US" sz="1200" dirty="0"/>
          </a:p>
          <a:p>
            <a:pPr marL="0" indent="0" algn="l">
              <a:lnSpc>
                <a:spcPts val="1976"/>
              </a:lnSpc>
              <a:buNone/>
            </a:pPr>
            <a:r>
              <a:rPr lang="en-US" sz="1200" dirty="0">
                <a:solidFill>
                  <a:srgbClr val="C039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제함기 1 방향으로 고정 분기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1333195" y="4667098"/>
            <a:ext cx="74295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S/A 박스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8,120개 (91.7%, DB 실측)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가 제함기 1에 집중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9715500" y="2857500"/>
            <a:ext cx="72393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TO-BE</a:t>
            </a:r>
            <a:endParaRPr lang="en-US" sz="900" dirty="0"/>
          </a:p>
        </p:txBody>
      </p:sp>
      <p:sp>
        <p:nvSpPr>
          <p:cNvPr id="27" name="Text 22"/>
          <p:cNvSpPr txBox="1"/>
          <p:nvPr/>
        </p:nvSpPr>
        <p:spPr>
          <a:xfrm>
            <a:off x="9715500" y="3124505"/>
            <a:ext cx="723930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대기열이 짧은 쪽을 동적 선택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9715500" y="3638398"/>
            <a:ext cx="7610551" cy="1009498"/>
          </a:xfrm>
          <a:prstGeom prst="roundRect">
            <a:avLst>
              <a:gd name="adj" fmla="val 5707"/>
            </a:avLst>
          </a:prstGeom>
          <a:solidFill>
            <a:srgbClr val="2E7D32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4"/>
          <p:cNvSpPr/>
          <p:nvPr/>
        </p:nvSpPr>
        <p:spPr>
          <a:xfrm>
            <a:off x="9715500" y="3638398"/>
            <a:ext cx="28346" cy="1009498"/>
          </a:xfrm>
          <a:prstGeom prst="roundRect">
            <a:avLst>
              <a:gd name="adj" fmla="val 203229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9715500" y="3610051"/>
            <a:ext cx="7610551" cy="103875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14300" rIns="177800" bIns="114300" rtlCol="0" anchor="t"/>
          <a:lstStyle/>
          <a:p>
            <a:pPr marL="0" indent="0" algn="l">
              <a:lnSpc>
                <a:spcPts val="1976"/>
              </a:lnSpc>
              <a:buNone/>
            </a:pPr>
            <a:r>
              <a:rPr lang="en-US" sz="1200" dirty="0">
                <a:solidFill>
                  <a:srgbClr val="2E7D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delay_Erector1.size()</a:t>
            </a:r>
            <a:endParaRPr lang="en-US" sz="1200" dirty="0"/>
          </a:p>
          <a:p>
            <a:pPr marL="0" indent="0" algn="l">
              <a:lnSpc>
                <a:spcPts val="1976"/>
              </a:lnSpc>
              <a:buNone/>
            </a:pPr>
            <a:r>
              <a:rPr lang="en-US" sz="1200" dirty="0">
                <a:solidFill>
                  <a:srgbClr val="2E7D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&lt;= delay_Erector2.size()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715500" y="4667098"/>
            <a:ext cx="72393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True → 제함기 1 · False → 제함기 2 (</a:t>
            </a:r>
            <a:r>
              <a:rPr lang="en-US" sz="1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Load Balancing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)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952805" y="5619902"/>
            <a:ext cx="85725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실측 부하 분산 결과 · S/A 박스 8,120개 (91.7%)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952805" y="6096305"/>
            <a:ext cx="10479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13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AS-IS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13811098" y="6096305"/>
            <a:ext cx="3810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1 100% · 제함기 2 0%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952805" y="6524244"/>
            <a:ext cx="10479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13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TO-BE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13811098" y="6524244"/>
            <a:ext cx="3810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1 100% · 제함기 2 4.8% (하류 정체로 분산 제한)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1429207" y="7810805"/>
            <a:ext cx="154305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1429207" y="8098841"/>
            <a:ext cx="15430500" cy="99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31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이론상 처리 시간 절반 감소 가능하나, 실측 기여는 제한적 (하류 병목 지배)</a:t>
            </a:r>
            <a:endParaRPr lang="en-US" sz="1200" dirty="0"/>
          </a:p>
          <a:p>
            <a:pPr marL="0" indent="0" algn="l">
              <a:lnSpc>
                <a:spcPts val="2231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하류 병목 해소 시 전 공정 처리량 증가 기대 · selectOutput1 조건 1줄만 추가하는 Zero-Cost 개선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2805" y="9773107"/>
            <a:ext cx="226222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6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K-LOGISTICS · SIMULATION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162374" y="9763049"/>
            <a:ext cx="73609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07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8288000" cy="104790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52805" y="1524305"/>
            <a:ext cx="8191195" cy="3810305"/>
          </a:xfrm>
          <a:prstGeom prst="roundRect">
            <a:avLst>
              <a:gd name="adj" fmla="val 1992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8191195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334195" y="1524305"/>
            <a:ext cx="8001000" cy="3810305"/>
          </a:xfrm>
          <a:prstGeom prst="roundRect">
            <a:avLst>
              <a:gd name="adj" fmla="val 1992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334195" y="1524305"/>
            <a:ext cx="8001000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52805" y="6096305"/>
            <a:ext cx="8191195" cy="3143707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34195" y="6096305"/>
            <a:ext cx="8001000" cy="3143707"/>
          </a:xfrm>
          <a:prstGeom prst="roundRect">
            <a:avLst>
              <a:gd name="adj" fmla="val 2414"/>
            </a:avLst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gen-dedup-809cc88aa64e0cfb0b6be5dae97d77f2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1047902"/>
            <a:ext cx="18288000" cy="3840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952805" y="286207"/>
            <a:ext cx="16383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2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06 · 개선 전략 ② AGV 최적 운영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52805" y="552298"/>
            <a:ext cx="163833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2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대수를 줄이고, 가장 가까운 AGV를 우선 배차한다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33195" y="1809598"/>
            <a:ext cx="7429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1D4E89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SUB-STRATEGY A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2095805"/>
            <a:ext cx="74295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운영 대수 최적화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33195" y="2619756"/>
            <a:ext cx="7429500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40</a:t>
            </a:r>
            <a:r>
              <a:rPr lang="en-US" sz="330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r>
              <a:rPr lang="en-US" sz="7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</a:t>
            </a:r>
            <a:r>
              <a:rPr lang="en-US" sz="2100" b="1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333195" y="3914546"/>
            <a:ext cx="7429500" cy="1324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S/A급 스테이션 (S 3개 + A 7개, 총 10개)을 기준으로 AGV를 40대에서 25대로 축소하였다. 민감도 실험(15·20·25·35대) 결과 5시간 완료 팔레트는 모두 20개로 동일하여, 15~35대 구간에서는 AGV가 처리량 병목이 아님을 확인하였다.
과다 투입 시 → 동선 대기 · 가동률 분산 · 운영비 증가</a:t>
            </a:r>
            <a:endParaRPr lang="en-US" sz="1200" dirty="0"/>
          </a:p>
          <a:p>
            <a:pPr marL="0" indent="0" algn="l">
              <a:lnSpc>
                <a:spcPts val="2040"/>
              </a:lnSpc>
              <a:buNone/>
            </a:pPr>
            <a:endParaRPr lang="en-US" sz="1200" dirty="0"/>
          </a:p>
          <a:p>
            <a:pPr marL="0" indent="0" algn="l">
              <a:lnSpc>
                <a:spcPts val="204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/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715500" y="1809598"/>
            <a:ext cx="72393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1D4E89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SUB-STRATEGY B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715500" y="2095805"/>
            <a:ext cx="7239305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최근접 AGV 우선 배차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9715500" y="2495398"/>
            <a:ext cx="7239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4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MoveByTransporter · TransporterRating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715500" y="2905049"/>
            <a:ext cx="7610551" cy="761695"/>
          </a:xfrm>
          <a:prstGeom prst="roundRect">
            <a:avLst>
              <a:gd name="adj" fmla="val 7563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715500" y="2905049"/>
            <a:ext cx="28346" cy="761695"/>
          </a:xfrm>
          <a:prstGeom prst="roundRect">
            <a:avLst>
              <a:gd name="adj" fmla="val 203229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9715500" y="2905049"/>
            <a:ext cx="7610551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14300" rIns="177800" bIns="11430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−unit.distanceTo(agent)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9715500" y="3720694"/>
            <a:ext cx="7239305" cy="147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음수 부호 → 거리가 작을수록 Rating 값이 높음 → 가장 가까운 AGV 선택</a:t>
            </a:r>
            <a:endParaRPr lang="en-US" sz="12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1·2 박스 수령 2개 블록 + S/A 피킹 후 박스 투입구 이동 1개 블록,</a:t>
            </a:r>
            <a:endParaRPr lang="en-US" sz="12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MoveByTransporter 5개 블록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(핵심 3 + B/C 2)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52805" y="5667451"/>
            <a:ext cx="95253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개선 효과 (5시간 시뮬레이션 실측)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333195" y="6429146"/>
            <a:ext cx="74295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평균 가동률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333195" y="6838798"/>
            <a:ext cx="190561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13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AS-IS · 40 대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333195" y="7095744"/>
            <a:ext cx="2857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900" b="1" kern="0" spc="-112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약 23</a:t>
            </a:r>
            <a:r>
              <a:rPr lang="en-US" sz="1900" b="1" kern="0" spc="-112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%</a:t>
            </a:r>
            <a:endParaRPr lang="en-US" sz="3900" dirty="0"/>
          </a:p>
        </p:txBody>
      </p:sp>
      <p:sp>
        <p:nvSpPr>
          <p:cNvPr id="29" name="Text 26"/>
          <p:cNvSpPr txBox="1"/>
          <p:nvPr/>
        </p:nvSpPr>
        <p:spPr>
          <a:xfrm>
            <a:off x="4762195" y="6838798"/>
            <a:ext cx="190561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13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TO-BE · 25 대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4762195" y="7095744"/>
            <a:ext cx="2857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900" b="1" kern="0" spc="-112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50%</a:t>
            </a:r>
            <a:endParaRPr lang="en-US" sz="3900" dirty="0"/>
          </a:p>
        </p:txBody>
      </p:sp>
      <p:sp>
        <p:nvSpPr>
          <p:cNvPr id="31" name="Text 28"/>
          <p:cNvSpPr txBox="1"/>
          <p:nvPr/>
        </p:nvSpPr>
        <p:spPr>
          <a:xfrm>
            <a:off x="1333195" y="7905902"/>
            <a:ext cx="74295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▲ +27%p (약 2.2배 향상) · 더 적은 자원으로 더 높은 활용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715500" y="6429146"/>
            <a:ext cx="72393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기대 효과 요약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9715500" y="6753758"/>
            <a:ext cx="7239305" cy="2247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23"/>
              </a:lnSpc>
              <a:buNone/>
            </a:pPr>
            <a:r>
              <a:rPr lang="en-US" sz="12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</a:t>
            </a:r>
            <a:r>
              <a:rPr lang="en-US" sz="12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공주행 감소</a:t>
            </a:r>
            <a:r>
              <a:rPr lang="en-US" sz="12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: 최근접 배차로 AGV 평균 이동 거리 단축</a:t>
            </a:r>
            <a:endParaRPr lang="en-US" sz="1200" dirty="0"/>
          </a:p>
          <a:p>
            <a:pPr marL="0" indent="0" algn="l">
              <a:lnSpc>
                <a:spcPts val="2423"/>
              </a:lnSpc>
              <a:buNone/>
            </a:pPr>
            <a:r>
              <a:rPr lang="en-US" sz="12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</a:t>
            </a:r>
            <a:r>
              <a:rPr lang="en-US" sz="12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사이클 수 증가</a:t>
            </a:r>
            <a:r>
              <a:rPr lang="en-US" sz="12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: 단위 시간당 처리 사이클 상승</a:t>
            </a:r>
            <a:endParaRPr lang="en-US" sz="1200" dirty="0"/>
          </a:p>
          <a:p>
            <a:pPr marL="0" indent="0" algn="l">
              <a:lnSpc>
                <a:spcPts val="2423"/>
              </a:lnSpc>
              <a:buNone/>
            </a:pPr>
            <a:r>
              <a:rPr lang="en-US" sz="12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Fleet 축소 : 40→25대 → 동일 처리량 유지하며 운영비 절감</a:t>
            </a:r>
            <a:endParaRPr lang="en-US" sz="1200" dirty="0"/>
          </a:p>
          <a:p>
            <a:pPr marL="0" indent="0" algn="l">
              <a:lnSpc>
                <a:spcPts val="2423"/>
              </a:lnSpc>
              <a:buNone/>
            </a:pPr>
            <a:r>
              <a:rPr lang="en-US" sz="12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</a:t>
            </a:r>
            <a:r>
              <a:rPr lang="en-US" sz="12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운영비 절감</a:t>
            </a:r>
            <a:r>
              <a:rPr lang="en-US" sz="12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: 유지보수 · 충전 15대분 절감 여력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2805" y="9773107"/>
            <a:ext cx="226222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6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K-LOGISTICS · SIMULATION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162374" y="9763049"/>
            <a:ext cx="73609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08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8288000" cy="104790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52805" y="1524305"/>
            <a:ext cx="8191195" cy="3143707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8191195" cy="38405"/>
          </a:xfrm>
          <a:prstGeom prst="roundRect">
            <a:avLst>
              <a:gd name="adj" fmla="val 197618"/>
            </a:avLst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334195" y="1524305"/>
            <a:ext cx="8001000" cy="3143707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334195" y="1524305"/>
            <a:ext cx="8001000" cy="38405"/>
          </a:xfrm>
          <a:prstGeom prst="roundRect">
            <a:avLst>
              <a:gd name="adj" fmla="val 197618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52805" y="5381244"/>
            <a:ext cx="3810305" cy="1714500"/>
          </a:xfrm>
          <a:prstGeom prst="roundRect">
            <a:avLst>
              <a:gd name="adj" fmla="val 4427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52805" y="5381244"/>
            <a:ext cx="3810305" cy="38405"/>
          </a:xfrm>
          <a:prstGeom prst="roundRect">
            <a:avLst>
              <a:gd name="adj" fmla="val 197618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143500" y="5381244"/>
            <a:ext cx="3810305" cy="1714500"/>
          </a:xfrm>
          <a:prstGeom prst="roundRect">
            <a:avLst>
              <a:gd name="adj" fmla="val 4427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143500" y="5381244"/>
            <a:ext cx="3810305" cy="38405"/>
          </a:xfrm>
          <a:prstGeom prst="roundRect">
            <a:avLst>
              <a:gd name="adj" fmla="val 197618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334195" y="5381244"/>
            <a:ext cx="3810305" cy="1714500"/>
          </a:xfrm>
          <a:prstGeom prst="roundRect">
            <a:avLst>
              <a:gd name="adj" fmla="val 4427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334195" y="5381244"/>
            <a:ext cx="3810305" cy="38405"/>
          </a:xfrm>
          <a:prstGeom prst="roundRect">
            <a:avLst>
              <a:gd name="adj" fmla="val 197618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3525805" y="5381244"/>
            <a:ext cx="3810305" cy="1714500"/>
          </a:xfrm>
          <a:prstGeom prst="roundRect">
            <a:avLst>
              <a:gd name="adj" fmla="val 4427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3525805" y="5381244"/>
            <a:ext cx="3810305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52805" y="7429500"/>
            <a:ext cx="16420795" cy="571500"/>
          </a:xfrm>
          <a:prstGeom prst="roundRect">
            <a:avLst>
              <a:gd name="adj" fmla="val 10080"/>
            </a:avLst>
          </a:prstGeom>
          <a:solidFill>
            <a:srgbClr val="E8F3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52805" y="7429500"/>
            <a:ext cx="38405" cy="571500"/>
          </a:xfrm>
          <a:prstGeom prst="roundRect">
            <a:avLst>
              <a:gd name="adj" fmla="val 149999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52805" y="8238744"/>
            <a:ext cx="16383305" cy="1047902"/>
          </a:xfrm>
          <a:prstGeom prst="roundRect">
            <a:avLst>
              <a:gd name="adj" fmla="val 7243"/>
            </a:avLst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0" descr="gen-dedup-809cc88aa64e0cfb0b6be5dae97d77f2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1047902"/>
            <a:ext cx="18288000" cy="3840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52805" y="286207"/>
            <a:ext cx="16383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2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07 · 개선 전략 ③ 파렛타이저 슬롯 동적 배정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952805" y="552298"/>
            <a:ext cx="163833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2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잔여 박스가 적은 지점을 슬롯에 먼저 태워 회전율을 높인다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1333195" y="1762049"/>
            <a:ext cx="7429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AS-IS (기본 슬롯)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1333195" y="2029054"/>
            <a:ext cx="74295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기본 슬롯 로직 (selectOutput6)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333195" y="2470709"/>
            <a:ext cx="7429500" cy="1958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9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파렛타이저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2대 × 2슬롯 = 총 4슬롯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운영</a:t>
            </a:r>
            <a:endParaRPr lang="en-US" sz="1200" dirty="0"/>
          </a:p>
          <a:p>
            <a:pPr marL="0" indent="0" algn="l">
              <a:lnSpc>
                <a:spcPts val="2359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한 슬롯에 지점이 배정되면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해당 지점 전량 처리 완료까지 슬롯 점유</a:t>
            </a:r>
            <a:endParaRPr lang="en-US" sz="1200" dirty="0"/>
          </a:p>
          <a:p>
            <a:pPr marL="0" indent="0" algn="l">
              <a:lnSpc>
                <a:spcPts val="2359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대량 주문 지점이 슬롯을 장기 점유 → 나머지 슬롯의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유휴 시간 증가</a:t>
            </a:r>
            <a:endParaRPr lang="en-US" sz="1200" dirty="0"/>
          </a:p>
          <a:p>
            <a:pPr marL="0" indent="0" algn="l">
              <a:lnSpc>
                <a:spcPts val="2359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지점 투입 순서가 최적화되지 않음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9715500" y="1762049"/>
            <a:ext cx="72393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TO-BE 개선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9715500" y="2029054"/>
            <a:ext cx="72393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잔여 박스 기반 동적 배정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715500" y="2470709"/>
            <a:ext cx="7239305" cy="1958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9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지점별 잔여 박스 수 </a:t>
            </a:r>
            <a:r>
              <a:rPr lang="en-US" sz="12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branchRemainingTotal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실시간 추적</a:t>
            </a:r>
            <a:endParaRPr lang="en-US" sz="1200" dirty="0"/>
          </a:p>
          <a:p>
            <a:pPr marL="0" indent="0" algn="l">
              <a:lnSpc>
                <a:spcPts val="2359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슬롯 배정 변수 </a:t>
            </a:r>
            <a:r>
              <a:rPr lang="en-US" sz="12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slotBranches[4]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유지</a:t>
            </a:r>
            <a:endParaRPr lang="en-US" sz="1200" dirty="0"/>
          </a:p>
          <a:p>
            <a:pPr marL="0" indent="0" algn="l">
              <a:lnSpc>
                <a:spcPts val="2359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빈 </a:t>
            </a:r>
            <a:r>
              <a:rPr lang="en-US" sz="1200" dirty="0" err="1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슬롯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ko-KR" alt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우선 배정</a:t>
            </a:r>
            <a:r>
              <a:rPr lang="en-US" altLang="ko-KR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, 4</a:t>
            </a:r>
            <a:r>
              <a:rPr lang="ko-KR" alt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슬롯 포화 시 잔여 박스 최소 슬롯부터 회전</a:t>
            </a:r>
            <a:endParaRPr lang="en-US" sz="1200" dirty="0"/>
          </a:p>
          <a:p>
            <a:pPr marL="0" indent="0" algn="l">
              <a:lnSpc>
                <a:spcPts val="2359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</a:t>
            </a:r>
            <a:r>
              <a:rPr lang="en-US" sz="1200" dirty="0" err="1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소량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en-US" sz="1200" dirty="0" err="1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지점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(</a:t>
            </a:r>
            <a:r>
              <a:rPr lang="en-US" sz="1200" dirty="0" err="1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주로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Type C)이 </a:t>
            </a:r>
            <a:r>
              <a:rPr lang="en-US" sz="1200" dirty="0" err="1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신속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en-US" sz="1200" dirty="0" err="1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완료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→ </a:t>
            </a:r>
            <a:r>
              <a:rPr lang="en-US" sz="1200" dirty="0" err="1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슬롯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en-US" sz="1200" dirty="0" err="1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조기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en-US" sz="1200" dirty="0" err="1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반환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52805" y="4953305"/>
            <a:ext cx="76206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슬롯 회전 개념 · 4 slots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238098" y="5619902"/>
            <a:ext cx="3238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SLOT 1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1238098" y="5886907"/>
            <a:ext cx="323880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Type C 지점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238098" y="6254496"/>
            <a:ext cx="323880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6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잔여 소량 → 우선 배정</a:t>
            </a:r>
            <a:endParaRPr lang="en-US" sz="1100" dirty="0"/>
          </a:p>
          <a:p>
            <a:pPr marL="0" indent="0" algn="l">
              <a:lnSpc>
                <a:spcPts val="1856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빠른 완료 → 슬롯 반환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29707" y="5619902"/>
            <a:ext cx="3238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SLOT 2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429707" y="5886907"/>
            <a:ext cx="323880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Type C 지점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5429707" y="6254496"/>
            <a:ext cx="323880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6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잔여 소량 우선</a:t>
            </a:r>
            <a:endParaRPr lang="en-US" sz="1100" dirty="0"/>
          </a:p>
          <a:p>
            <a:pPr marL="0" indent="0" algn="l">
              <a:lnSpc>
                <a:spcPts val="1856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회전율 상승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620402" y="5619902"/>
            <a:ext cx="3238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C884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SLOT 3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9620402" y="5886907"/>
            <a:ext cx="323880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Type B 지점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9620402" y="6254496"/>
            <a:ext cx="323880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6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중간 규모</a:t>
            </a:r>
            <a:endParaRPr lang="en-US" sz="1100" dirty="0"/>
          </a:p>
          <a:p>
            <a:pPr marL="0" indent="0" algn="l">
              <a:lnSpc>
                <a:spcPts val="1856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순차 소진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3811098" y="5619902"/>
            <a:ext cx="3238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1D4E89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SLOT 4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13811098" y="5886907"/>
            <a:ext cx="323880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Type A 지점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13811098" y="6254496"/>
            <a:ext cx="323880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6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대량 지점</a:t>
            </a:r>
            <a:endParaRPr lang="en-US" sz="1100" dirty="0"/>
          </a:p>
          <a:p>
            <a:pPr marL="0" indent="0" algn="l">
              <a:lnSpc>
                <a:spcPts val="1856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다른 슬롯과 병렬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333195" y="7572146"/>
            <a:ext cx="1581180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회전 사이클 : </a:t>
            </a:r>
            <a:r>
              <a:rPr lang="ko-KR" altLang="en-US" sz="1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기존 배정 재사용</a:t>
            </a:r>
            <a:r>
              <a:rPr lang="en-US" sz="1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→ </a:t>
            </a:r>
            <a:r>
              <a:rPr lang="ko-KR" altLang="en-US" sz="1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빈 슬롯 배정 </a:t>
            </a:r>
            <a:r>
              <a:rPr lang="en-US" sz="1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</a:t>
            </a:r>
            <a:r>
              <a:rPr lang="en-US" sz="1200" b="1" dirty="0" err="1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argmin</a:t>
            </a:r>
            <a:r>
              <a:rPr lang="en-US" sz="1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</a:t>
            </a:r>
            <a:r>
              <a:rPr lang="en-US" sz="1200" b="1" dirty="0" err="1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branchRemainingTotal</a:t>
            </a:r>
            <a:r>
              <a:rPr lang="en-US" sz="1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) </a:t>
            </a:r>
            <a:r>
              <a:rPr lang="ko-KR" altLang="en-US" sz="1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슬롯 회전</a:t>
            </a:r>
            <a:r>
              <a:rPr lang="en-US" sz="1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endParaRPr lang="en-US" sz="1200" dirty="0">
              <a:latin typeface="JetBrains Mono"/>
            </a:endParaRPr>
          </a:p>
        </p:txBody>
      </p:sp>
      <p:sp>
        <p:nvSpPr>
          <p:cNvPr id="43" name="Text 40"/>
          <p:cNvSpPr txBox="1"/>
          <p:nvPr/>
        </p:nvSpPr>
        <p:spPr>
          <a:xfrm>
            <a:off x="1333195" y="8429854"/>
            <a:ext cx="156216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기대 효과</a:t>
            </a:r>
            <a:endParaRPr lang="en-US" sz="900" dirty="0"/>
          </a:p>
        </p:txBody>
      </p:sp>
      <p:sp>
        <p:nvSpPr>
          <p:cNvPr id="44" name="Text 41"/>
          <p:cNvSpPr txBox="1"/>
          <p:nvPr/>
        </p:nvSpPr>
        <p:spPr>
          <a:xfrm>
            <a:off x="1333195" y="8715146"/>
            <a:ext cx="1562161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Type C 소량 지점이 빠르게 완료 · 반환되며, 새로운 지점을 조기 투입하는 </a:t>
            </a:r>
            <a:r>
              <a:rPr lang="en-US" sz="1300" b="1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사이클 회전율 상승</a:t>
            </a:r>
            <a:r>
              <a:rPr lang="en-US" sz="1300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→ 전체 슬롯 점유 효율 향상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4790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52805" y="2000707"/>
            <a:ext cx="5333695" cy="1904695"/>
          </a:xfrm>
          <a:prstGeom prst="roundRect">
            <a:avLst>
              <a:gd name="adj" fmla="val 3985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2805" y="2000707"/>
            <a:ext cx="5333695" cy="38405"/>
          </a:xfrm>
          <a:prstGeom prst="roundRect">
            <a:avLst>
              <a:gd name="adj" fmla="val 197618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76695" y="2000707"/>
            <a:ext cx="5333695" cy="1904695"/>
          </a:xfrm>
          <a:prstGeom prst="roundRect">
            <a:avLst>
              <a:gd name="adj" fmla="val 3985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476695" y="2000707"/>
            <a:ext cx="5333695" cy="38405"/>
          </a:xfrm>
          <a:prstGeom prst="roundRect">
            <a:avLst>
              <a:gd name="adj" fmla="val 197618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2001500" y="2000707"/>
            <a:ext cx="5333695" cy="1904695"/>
          </a:xfrm>
          <a:prstGeom prst="roundRect">
            <a:avLst>
              <a:gd name="adj" fmla="val 3985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2001500" y="2000707"/>
            <a:ext cx="5333695" cy="38405"/>
          </a:xfrm>
          <a:prstGeom prst="roundRect">
            <a:avLst>
              <a:gd name="adj" fmla="val 197618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2476195" y="4667098"/>
            <a:ext cx="14859000" cy="209398"/>
          </a:xfrm>
          <a:prstGeom prst="roundRect">
            <a:avLst>
              <a:gd name="adj" fmla="val 13537"/>
            </a:avLst>
          </a:prstGeom>
          <a:solidFill>
            <a:srgbClr val="E8EC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476195" y="5305349"/>
            <a:ext cx="14859000" cy="209398"/>
          </a:xfrm>
          <a:prstGeom prst="roundRect">
            <a:avLst>
              <a:gd name="adj" fmla="val 13537"/>
            </a:avLst>
          </a:prstGeom>
          <a:solidFill>
            <a:srgbClr val="E8EC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gen-dedup-809cc88aa64e0cfb0b6be5dae97d77f2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1047902"/>
            <a:ext cx="18288000" cy="38405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476195" y="4667098"/>
            <a:ext cx="428854" cy="209398"/>
          </a:xfrm>
          <a:prstGeom prst="roundRect">
            <a:avLst>
              <a:gd name="adj" fmla="val 13537"/>
            </a:avLst>
          </a:prstGeom>
          <a:solidFill>
            <a:srgbClr val="C039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2476195" y="5305349"/>
            <a:ext cx="1123798" cy="209398"/>
          </a:xfrm>
          <a:prstGeom prst="roundRect">
            <a:avLst>
              <a:gd name="adj" fmla="val 13537"/>
            </a:avLst>
          </a:prstGeom>
          <a:solidFill>
            <a:srgbClr val="2E7D3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952805" y="286207"/>
            <a:ext cx="16383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2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08 · AS-IS vs TO-BE 정량 결과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52805" y="552298"/>
            <a:ext cx="163833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2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동일 5시간 · 동일 8,858박스 입력에서 처리량 +150%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524305"/>
            <a:ext cx="163833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※ KPI 수치(박스 · 팔레트 · 가동률)는 안정화 패치 후 18,000초 재시뮬로 최종 확정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333195" y="2238451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완료 팔레트 (5hr)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333195" y="2553005"/>
            <a:ext cx="457200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8 </a:t>
            </a:r>
            <a:r>
              <a:rPr lang="en-US" sz="3300" b="1" kern="0" spc="-7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</a:t>
            </a:r>
            <a:r>
              <a:rPr lang="en-US" sz="3300" b="1" kern="0" spc="-75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</a:t>
            </a:r>
            <a:r>
              <a:rPr lang="en-US" sz="1600" b="1" kern="0" spc="-7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팔레트</a:t>
            </a:r>
            <a:endParaRPr lang="en-US" sz="3300" dirty="0"/>
          </a:p>
        </p:txBody>
      </p:sp>
      <p:sp>
        <p:nvSpPr>
          <p:cNvPr id="19" name="Text 16"/>
          <p:cNvSpPr txBox="1"/>
          <p:nvPr/>
        </p:nvSpPr>
        <p:spPr>
          <a:xfrm>
            <a:off x="1333195" y="3191256"/>
            <a:ext cx="45720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▲ +150%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333195" y="3524098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256 박스 → 640 </a:t>
            </a:r>
            <a:r>
              <a:rPr lang="en-US" sz="1100" dirty="0" err="1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박스</a:t>
            </a: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(+384 박스)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0" y="2238451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시간당 </a:t>
            </a:r>
            <a:r>
              <a:rPr lang="en-US" sz="900" b="1" kern="0" spc="180" dirty="0" err="1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처리량</a:t>
            </a: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(</a:t>
            </a:r>
            <a:r>
              <a:rPr lang="ko-KR" alt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팔레트</a:t>
            </a: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/hr)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0" y="2553005"/>
            <a:ext cx="457200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1.6 </a:t>
            </a:r>
            <a:r>
              <a:rPr lang="en-US" sz="3300" b="1" kern="0" spc="-7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</a:t>
            </a:r>
            <a:r>
              <a:rPr lang="en-US" sz="3300" b="1" kern="0" spc="-75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4.0</a:t>
            </a:r>
            <a:r>
              <a:rPr lang="en-US" sz="1600" b="1" kern="0" spc="-7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/hr</a:t>
            </a:r>
            <a:endParaRPr lang="en-US" sz="33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0" y="3191256"/>
            <a:ext cx="45720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▲ +2.4/hr · ×2.5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0" y="3524098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동일 5시간 · 동일 주문 데이터 기준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2382805" y="2238451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완료 지점 수 · AGV 대수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2382805" y="2553005"/>
            <a:ext cx="457200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1/60 → 3/60</a:t>
            </a:r>
            <a:endParaRPr lang="en-US" sz="3300" dirty="0"/>
          </a:p>
        </p:txBody>
      </p:sp>
      <p:sp>
        <p:nvSpPr>
          <p:cNvPr id="27" name="Text 24"/>
          <p:cNvSpPr txBox="1"/>
          <p:nvPr/>
        </p:nvSpPr>
        <p:spPr>
          <a:xfrm>
            <a:off x="12382805" y="3191256"/>
            <a:ext cx="45720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884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×3배 · AGV 40→25대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2382805" y="3524098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더 적은 자원으로 3배 지점 완료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52805" y="4190695"/>
            <a:ext cx="85725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완료 박스 시각화 (5시간 기준, 총 8,858 박스)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52805" y="4619549"/>
            <a:ext cx="13341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13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952805" y="4876495"/>
            <a:ext cx="1334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40대 · 2.9%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000146" y="4638751"/>
            <a:ext cx="19056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256 박스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5" y="5257800"/>
            <a:ext cx="13341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13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TO-BE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52805" y="5514746"/>
            <a:ext cx="1334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25대 · 7.2%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3696005" y="5277002"/>
            <a:ext cx="26673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640 </a:t>
            </a:r>
            <a:r>
              <a:rPr lang="en-US" sz="1100" b="1" dirty="0" err="1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박스</a:t>
            </a:r>
            <a:r>
              <a:rPr lang="en-US" sz="11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(+384)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5" y="5905195"/>
            <a:ext cx="85725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전체 성능 지표 상세 비교 (표 8)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159418"/>
              </p:ext>
            </p:extLst>
          </p:nvPr>
        </p:nvGraphicFramePr>
        <p:xfrm>
          <a:off x="952805" y="6238951"/>
          <a:ext cx="16383305" cy="3190190"/>
        </p:xfrm>
        <a:graphic>
          <a:graphicData uri="http://schemas.openxmlformats.org/drawingml/2006/table">
            <a:tbl>
              <a:tblPr/>
              <a:tblGrid>
                <a:gridCol w="400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621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35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성능 지표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95098" marB="95098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AS-IS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95098" marB="95098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TO-BE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95098" marB="95098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개선폭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95098" marB="95098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완료 팔레트 (5hr)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8 팔레트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20 팔레트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▲ +150% (×2.5)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완료 박스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256 박스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640 박스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▲ +384 박스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완료 지점 수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1 / 60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3 / 60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×3 배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시간당 처리량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1.6 </a:t>
                      </a:r>
                      <a:r>
                        <a:rPr lang="ko-KR" altLang="en-US" sz="112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팔레트</a:t>
                      </a:r>
                      <a:r>
                        <a:rPr lang="en-US" sz="112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/hr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4.0 팔레트/hr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▲ +2.4/hr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제함기 1 가동률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≈ 100% (포화)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≈ 100% (정체 지속)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하류 정체 역전파 (개선 제한)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제함기 2 가동률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≈ 0% (사장)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약 4.8%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▲ 소폭 활성화 (0%→4.8%)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AGV 평균 가동률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약 23%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50%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▲ +27%p (×2.2)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AGV 운영 대수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40 대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25 대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2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▼ −15대 (−37.5%)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85954" marB="85954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8" name="Text 34"/>
          <p:cNvSpPr txBox="1"/>
          <p:nvPr/>
        </p:nvSpPr>
        <p:spPr>
          <a:xfrm>
            <a:off x="17199864" y="190195"/>
            <a:ext cx="68945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2805" y="9773107"/>
            <a:ext cx="226222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6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K-LOGISTICS · SIMULATION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162374" y="9763049"/>
            <a:ext cx="73609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10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8288000" cy="104790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286000" y="6505956"/>
            <a:ext cx="14287500" cy="209398"/>
          </a:xfrm>
          <a:prstGeom prst="roundRect">
            <a:avLst>
              <a:gd name="adj" fmla="val 13537"/>
            </a:avLst>
          </a:prstGeom>
          <a:solidFill>
            <a:srgbClr val="E8EC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286000" y="6981444"/>
            <a:ext cx="14287500" cy="209398"/>
          </a:xfrm>
          <a:prstGeom prst="roundRect">
            <a:avLst>
              <a:gd name="adj" fmla="val 13537"/>
            </a:avLst>
          </a:prstGeom>
          <a:solidFill>
            <a:srgbClr val="E8EC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2286000" y="7457846"/>
            <a:ext cx="14287500" cy="209398"/>
          </a:xfrm>
          <a:prstGeom prst="roundRect">
            <a:avLst>
              <a:gd name="adj" fmla="val 13537"/>
            </a:avLst>
          </a:prstGeom>
          <a:solidFill>
            <a:srgbClr val="E8EC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286000" y="7934249"/>
            <a:ext cx="14287500" cy="209398"/>
          </a:xfrm>
          <a:prstGeom prst="roundRect">
            <a:avLst>
              <a:gd name="adj" fmla="val 13537"/>
            </a:avLst>
          </a:prstGeom>
          <a:solidFill>
            <a:srgbClr val="E8EC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52805" y="8572500"/>
            <a:ext cx="16383305" cy="761695"/>
          </a:xfrm>
          <a:prstGeom prst="roundRect">
            <a:avLst>
              <a:gd name="adj" fmla="val 9964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52805" y="8572500"/>
            <a:ext cx="38405" cy="761695"/>
          </a:xfrm>
          <a:prstGeom prst="roundRect">
            <a:avLst>
              <a:gd name="adj" fmla="val 197618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gen-dedup-809cc88aa64e0cfb0b6be5dae97d77f2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1047902"/>
            <a:ext cx="18288000" cy="38405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286000" y="6505956"/>
            <a:ext cx="11430000" cy="209398"/>
          </a:xfrm>
          <a:prstGeom prst="roundRect">
            <a:avLst>
              <a:gd name="adj" fmla="val 13537"/>
            </a:avLst>
          </a:prstGeom>
          <a:solidFill>
            <a:srgbClr val="1D4E8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2286000" y="6981444"/>
            <a:ext cx="761695" cy="209398"/>
          </a:xfrm>
          <a:prstGeom prst="roundRect">
            <a:avLst>
              <a:gd name="adj" fmla="val 13537"/>
            </a:avLst>
          </a:prstGeom>
          <a:solidFill>
            <a:srgbClr val="C039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2286000" y="7457846"/>
            <a:ext cx="8287207" cy="209398"/>
          </a:xfrm>
          <a:prstGeom prst="roundRect">
            <a:avLst>
              <a:gd name="adj" fmla="val 13537"/>
            </a:avLst>
          </a:prstGeom>
          <a:solidFill>
            <a:srgbClr val="2E7D3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2286000" y="7934249"/>
            <a:ext cx="1524305" cy="209398"/>
          </a:xfrm>
          <a:prstGeom prst="roundRect">
            <a:avLst>
              <a:gd name="adj" fmla="val 13537"/>
            </a:avLst>
          </a:prstGeom>
          <a:solidFill>
            <a:srgbClr val="C039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952805" y="286207"/>
            <a:ext cx="16383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2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09 · 민감도 분석 · AGV 운영 대수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552298"/>
            <a:ext cx="163833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2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15~35대 구간 처리량 동일 · 하류 공정이 병목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52805" y="1524305"/>
            <a:ext cx="16383305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15 / 20 / 25 / 35 대 4수준을 실험하였다. 제함기 capacity=1 · 안정화 패치 적용 후, 5시간 완료 팔레트는 4수준 모두 20개(640박스)로 동일하였다. AGV 가동률만 대수에 따라 달라지며, 처리량 병목은 파렛타이저·슬롯 등 하류 공정에 있다.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75343"/>
              </p:ext>
            </p:extLst>
          </p:nvPr>
        </p:nvGraphicFramePr>
        <p:xfrm>
          <a:off x="952805" y="2572207"/>
          <a:ext cx="16383305" cy="2306296"/>
        </p:xfrm>
        <a:graphic>
          <a:graphicData uri="http://schemas.openxmlformats.org/drawingml/2006/table">
            <a:tbl>
              <a:tblPr/>
              <a:tblGrid>
                <a:gridCol w="3047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AGV 대수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완료 팔레트 (5hr)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시간당 처리량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AGV 가동률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비고</a:t>
                      </a:r>
                      <a:endParaRPr lang="en-US" sz="112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15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20 팔레트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4.0 팔레트/hr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60.0%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6B7488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처리량 동일 · 가동률 높음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20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20 팔레트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4.0 팔레트/hr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50.0%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처리량 동일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25 (TO-BE) ★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20 팔레트</a:t>
                      </a:r>
                      <a:endParaRPr lang="en-US" sz="1200" dirty="0"/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4.0 팔레트/hr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50.0%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2E7D32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기준 시나리오 · AS-IS 대비</a:t>
                      </a:r>
                      <a:endParaRPr lang="en-US" sz="1200" dirty="0"/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1A1F2E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35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20 팔레트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4.0 팔레트/hr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dirty="0">
                          <a:solidFill>
                            <a:srgbClr val="3A4356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34.3%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75" b="1" dirty="0">
                          <a:solidFill>
                            <a:srgbClr val="C0392B"/>
                          </a:solidFill>
                          <a:latin typeface="Pretendard Variable" pitchFamily="34" charset="0"/>
                          <a:ea typeface="Pretendard Variable" pitchFamily="34" charset="-122"/>
                          <a:cs typeface="Pretendard Variable" pitchFamily="34" charset="-120"/>
                        </a:rPr>
                        <a:t>처리량 동일 · 교착 없음</a:t>
                      </a:r>
                      <a:endParaRPr lang="en-US" sz="1275" dirty="0">
                        <a:latin typeface="Pretendard Variable" charset="0"/>
                        <a:ea typeface="Pretendard Variable" charset="0"/>
                        <a:cs typeface="Pretendard Variable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952805" y="6048756"/>
            <a:ext cx="76206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완료 팔레트 시각 비교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952805" y="6476695"/>
            <a:ext cx="10479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15 대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13811098" y="6476695"/>
            <a:ext cx="2095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 팔레트 · 가동률 60.0%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952805" y="6953098"/>
            <a:ext cx="10479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 대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3143707" y="6953098"/>
            <a:ext cx="3810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 팔레트 · 가동률 50.0%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52805" y="7429500"/>
            <a:ext cx="123901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 대 ★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10668305" y="7429500"/>
            <a:ext cx="3810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 팔레트 · 기준 시나리오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52805" y="7905902"/>
            <a:ext cx="10479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35 대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3905402" y="7905902"/>
            <a:ext cx="3810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 팔레트 · 가동률 34.3%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1429207" y="8810244"/>
            <a:ext cx="154305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Takeaway. 15~35대 모두 5시간 20팔레트(640박스)로 동일하다. AGV 대수는 처리량보다 가동률·운영비에 영향을 주므로, 동일 성능에서 최소 투입(15대)을 경제적 대안으로 검토할 수 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2805" y="9773107"/>
            <a:ext cx="226222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6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K-LOGISTICS · SIMULATION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162374" y="9763049"/>
            <a:ext cx="73609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11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8288000" cy="104790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52805" y="2762402"/>
            <a:ext cx="5333695" cy="3143707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52805" y="2762402"/>
            <a:ext cx="5333695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333195" y="5048402"/>
            <a:ext cx="4572000" cy="666598"/>
          </a:xfrm>
          <a:prstGeom prst="roundRect">
            <a:avLst>
              <a:gd name="adj" fmla="val 8642"/>
            </a:avLst>
          </a:prstGeom>
          <a:solidFill>
            <a:srgbClr val="EEF2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476695" y="2762402"/>
            <a:ext cx="5333695" cy="3143707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476695" y="2762402"/>
            <a:ext cx="5333695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858000" y="5048402"/>
            <a:ext cx="4572000" cy="666598"/>
          </a:xfrm>
          <a:prstGeom prst="roundRect">
            <a:avLst>
              <a:gd name="adj" fmla="val 8642"/>
            </a:avLst>
          </a:prstGeom>
          <a:solidFill>
            <a:srgbClr val="EEF2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2001500" y="2762402"/>
            <a:ext cx="5333695" cy="3143707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2001500" y="2762402"/>
            <a:ext cx="5333695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2382805" y="5048402"/>
            <a:ext cx="4572000" cy="666598"/>
          </a:xfrm>
          <a:prstGeom prst="roundRect">
            <a:avLst>
              <a:gd name="adj" fmla="val 8642"/>
            </a:avLst>
          </a:prstGeom>
          <a:solidFill>
            <a:srgbClr val="EEF2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52805" y="6191402"/>
            <a:ext cx="16383305" cy="1238098"/>
          </a:xfrm>
          <a:prstGeom prst="roundRect">
            <a:avLst>
              <a:gd name="adj" fmla="val 6130"/>
            </a:avLst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52805" y="7715707"/>
            <a:ext cx="16383305" cy="1619402"/>
          </a:xfrm>
          <a:prstGeom prst="roundRect">
            <a:avLst>
              <a:gd name="adj" fmla="val 4687"/>
            </a:avLst>
          </a:prstGeom>
          <a:solidFill>
            <a:srgbClr val="EEF2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52805" y="7715707"/>
            <a:ext cx="38405" cy="1619402"/>
          </a:xfrm>
          <a:prstGeom prst="roundRect">
            <a:avLst>
              <a:gd name="adj" fmla="val 197618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0" descr="gen-dedup-809cc88aa64e0cfb0b6be5dae97d77f2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1047902"/>
            <a:ext cx="18288000" cy="3840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52805" y="286207"/>
            <a:ext cx="16383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2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10 · 결론 및 제언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52805" y="552298"/>
            <a:ext cx="163833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2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Zero-Cost 운영 로직 개선으로 병목을 해소한다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952805" y="1524305"/>
            <a:ext cx="16383305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핵심 병목은 S/A 박스 91.7% (DB)를 제함기 1이 단독으로 처리하는 라우팅 로직에 있었다. TO-BE 모델은 세 가지 운영 개선 + 안정화를 통해 이 구조를 해소하고 처리량을 유의미하게 향상시켰다.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333195" y="3000146"/>
            <a:ext cx="457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1D4E89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STRATEGY 01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333195" y="3267151"/>
            <a:ext cx="4572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부하 분산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333195" y="3727094"/>
            <a:ext cx="4572000" cy="1178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selectOutput1 조건 1줄 추가만으로 구현 가능한 Zero-Cost 개선.</a:t>
            </a:r>
            <a:endParaRPr lang="en-US" sz="1100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실측 기여는 제한적(제함기2 4.8%)이나 하류 병목 해소 시 효과가 커지는 구조적 대비책.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524305" y="5170018"/>
            <a:ext cx="4191610" cy="440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00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2 0% → 4.8% 활성화</a:t>
            </a:r>
            <a:endParaRPr lang="en-US" sz="1100" dirty="0"/>
          </a:p>
          <a:p>
            <a:pPr marL="0" indent="0" algn="l">
              <a:lnSpc>
                <a:spcPts val="1688"/>
              </a:lnSpc>
              <a:buNone/>
            </a:pPr>
            <a:r>
              <a:rPr lang="en-US" sz="1100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1 100% (하류 정체 지속)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000146"/>
            <a:ext cx="457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1D4E89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STRATEGY 02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267151"/>
            <a:ext cx="4572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운영 최적화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0" y="3762756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40→25대 축소로 운영 비용(유지보수 · 충전)을 절감하면서 처리량을 향상. 민감도 실험상 15~35대 처리량은 동일. 최근접 배차는 파라미터 1개 변경으로 즉시 적용.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7048195" y="5170018"/>
            <a:ext cx="4191610" cy="440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00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40대 (23%) → 25대 (50%)</a:t>
            </a:r>
            <a:endParaRPr lang="en-US" sz="1100" dirty="0"/>
          </a:p>
          <a:p>
            <a:pPr marL="0" indent="0" algn="l">
              <a:lnSpc>
                <a:spcPts val="1688"/>
              </a:lnSpc>
              <a:buNone/>
            </a:pPr>
            <a:r>
              <a:rPr lang="en-US" sz="11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가동률 약 2배 향상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2382805" y="3000146"/>
            <a:ext cx="457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1D4E89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STRATEGY 03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2382805" y="3267151"/>
            <a:ext cx="4572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슬롯 동적 배정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12382805" y="3762756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지점별 잔여 박스 기반 슬롯 할당은 특히 </a:t>
            </a:r>
            <a:r>
              <a:rPr lang="en-US" sz="11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Type C 소량 지점의 처리 효율</a:t>
            </a: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을 높여 전체 슬롯 점유 사이클을 가속화.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2573000" y="5170018"/>
            <a:ext cx="4191610" cy="440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00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완료 지점 1 → 3 (5hr)</a:t>
            </a:r>
            <a:endParaRPr lang="en-US" sz="1100" dirty="0"/>
          </a:p>
          <a:p>
            <a:pPr marL="0" indent="0" algn="l">
              <a:lnSpc>
                <a:spcPts val="1688"/>
              </a:lnSpc>
              <a:buNone/>
            </a:pPr>
            <a:r>
              <a:rPr lang="en-US" sz="11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슬롯 회전율 상승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33195" y="6476695"/>
            <a:ext cx="156216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FINAL RESULT (5hr, 동일 조건)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1333195" y="6810451"/>
            <a:ext cx="15621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완료 팔레트 </a:t>
            </a:r>
            <a:r>
              <a:rPr lang="en-US" sz="1600" b="1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8 → 20</a:t>
            </a:r>
            <a:r>
              <a:rPr lang="en-US" sz="16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· 박스 </a:t>
            </a:r>
            <a:r>
              <a:rPr lang="en-US" sz="1600" b="1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256 → 640</a:t>
            </a:r>
            <a:r>
              <a:rPr lang="en-US" sz="16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· 시간당 처리량 </a:t>
            </a:r>
            <a:r>
              <a:rPr lang="en-US" sz="1600" b="1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1.6 → 4.0 팔레트/hr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1429207" y="8001000"/>
            <a:ext cx="154305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향후 과제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429207" y="8337499"/>
            <a:ext cx="15430500" cy="902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31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잔여 박스 수 기반 지점 투입 순서 최적화 (스케줄링 확장)</a:t>
            </a:r>
            <a:endParaRPr lang="en-US" sz="1200" dirty="0"/>
          </a:p>
          <a:p>
            <a:pPr marL="0" indent="0" algn="l">
              <a:lnSpc>
                <a:spcPts val="2231"/>
              </a:lnSpc>
              <a:buNone/>
            </a:pP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C급 스테이션 병렬 처리 작업자 증원 · 시간대별 주문 패턴을 고려한 </a:t>
            </a:r>
            <a:r>
              <a:rPr lang="en-US" sz="1200" b="1" dirty="0">
                <a:solidFill>
                  <a:srgbClr val="1A1F2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대수 동적 조절</a:t>
            </a:r>
            <a:r>
              <a:rPr lang="en-US" sz="12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로 확장 적용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2805" y="9773107"/>
            <a:ext cx="226222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6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K-LOGISTICS · SIMULATION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162374" y="9763049"/>
            <a:ext cx="73609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12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8288000" cy="104790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52805" y="1524305"/>
            <a:ext cx="16383305" cy="1619402"/>
          </a:xfrm>
          <a:prstGeom prst="roundRect">
            <a:avLst>
              <a:gd name="adj" fmla="val 4687"/>
            </a:avLst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52805" y="3857854"/>
            <a:ext cx="5333695" cy="3810305"/>
          </a:xfrm>
          <a:prstGeom prst="roundRect">
            <a:avLst>
              <a:gd name="adj" fmla="val 1992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52805" y="3857854"/>
            <a:ext cx="5333695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333195" y="7048195"/>
            <a:ext cx="4572000" cy="418795"/>
          </a:xfrm>
          <a:prstGeom prst="roundRect">
            <a:avLst>
              <a:gd name="adj" fmla="val 13755"/>
            </a:avLst>
          </a:prstGeom>
          <a:solidFill>
            <a:srgbClr val="E8F3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476695" y="3857854"/>
            <a:ext cx="5333695" cy="3810305"/>
          </a:xfrm>
          <a:prstGeom prst="roundRect">
            <a:avLst>
              <a:gd name="adj" fmla="val 1992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476695" y="3857854"/>
            <a:ext cx="5333695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858000" y="7048195"/>
            <a:ext cx="4572000" cy="418795"/>
          </a:xfrm>
          <a:prstGeom prst="roundRect">
            <a:avLst>
              <a:gd name="adj" fmla="val 13755"/>
            </a:avLst>
          </a:prstGeom>
          <a:solidFill>
            <a:srgbClr val="E8F3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2001500" y="3857854"/>
            <a:ext cx="5333695" cy="3810305"/>
          </a:xfrm>
          <a:prstGeom prst="roundRect">
            <a:avLst>
              <a:gd name="adj" fmla="val 1992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2001500" y="3857854"/>
            <a:ext cx="5333695" cy="38405"/>
          </a:xfrm>
          <a:prstGeom prst="roundRect">
            <a:avLst>
              <a:gd name="adj" fmla="val 197618"/>
            </a:avLst>
          </a:prstGeom>
          <a:solidFill>
            <a:srgbClr val="1D4E89"/>
          </a:solidFill>
          <a:ln w="12700">
            <a:solidFill>
              <a:srgbClr val="1D4E8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2382805" y="7048195"/>
            <a:ext cx="4572000" cy="418795"/>
          </a:xfrm>
          <a:prstGeom prst="roundRect">
            <a:avLst>
              <a:gd name="adj" fmla="val 13755"/>
            </a:avLst>
          </a:prstGeom>
          <a:solidFill>
            <a:srgbClr val="E8F3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52805" y="8096098"/>
            <a:ext cx="16383305" cy="1143000"/>
          </a:xfrm>
          <a:prstGeom prst="roundRect">
            <a:avLst>
              <a:gd name="adj" fmla="val 6640"/>
            </a:avLst>
          </a:prstGeom>
          <a:solidFill>
            <a:srgbClr val="F0A5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gen-dedup-809cc88aa64e0cfb0b6be5dae97d77f2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1047902"/>
            <a:ext cx="18288000" cy="38405"/>
          </a:xfrm>
          <a:prstGeom prst="rect">
            <a:avLst/>
          </a:prstGeom>
        </p:spPr>
      </p:pic>
      <p:pic>
        <p:nvPicPr>
          <p:cNvPr id="17" name="Image 1" descr="gen-dedup-997233675fd5ca0b9fcebdf85df01bfd.png"/>
          <p:cNvPicPr>
            <a:picLocks noChangeAspect="1"/>
          </p:cNvPicPr>
          <p:nvPr/>
        </p:nvPicPr>
        <p:blipFill>
          <a:blip r:embed="rId4"/>
          <a:srcRect t="-2089" b="-2089"/>
          <a:stretch/>
        </p:blipFill>
        <p:spPr>
          <a:xfrm>
            <a:off x="5048402" y="1809598"/>
            <a:ext cx="9144" cy="1047902"/>
          </a:xfrm>
          <a:prstGeom prst="rect">
            <a:avLst/>
          </a:prstGeom>
        </p:spPr>
      </p:pic>
      <p:pic>
        <p:nvPicPr>
          <p:cNvPr id="18" name="Image 2" descr="gen-dedup-997233675fd5ca0b9fcebdf85df01bfd.png"/>
          <p:cNvPicPr>
            <a:picLocks noChangeAspect="1"/>
          </p:cNvPicPr>
          <p:nvPr/>
        </p:nvPicPr>
        <p:blipFill>
          <a:blip r:embed="rId4"/>
          <a:srcRect t="-2089" b="-2089"/>
          <a:stretch/>
        </p:blipFill>
        <p:spPr>
          <a:xfrm>
            <a:off x="9144000" y="1809598"/>
            <a:ext cx="9144" cy="1047902"/>
          </a:xfrm>
          <a:prstGeom prst="rect">
            <a:avLst/>
          </a:prstGeom>
        </p:spPr>
      </p:pic>
      <p:pic>
        <p:nvPicPr>
          <p:cNvPr id="19" name="Image 3" descr="gen-dedup-997233675fd5ca0b9fcebdf85df01bfd.png"/>
          <p:cNvPicPr>
            <a:picLocks noChangeAspect="1"/>
          </p:cNvPicPr>
          <p:nvPr/>
        </p:nvPicPr>
        <p:blipFill>
          <a:blip r:embed="rId4"/>
          <a:srcRect t="-2089" b="-2089"/>
          <a:stretch/>
        </p:blipFill>
        <p:spPr>
          <a:xfrm>
            <a:off x="13239598" y="1809598"/>
            <a:ext cx="9144" cy="104790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52805" y="286207"/>
            <a:ext cx="16383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2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11 · 개선 임팩트 정량 종합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952805" y="552298"/>
            <a:ext cx="163833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2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세 전략이 만든 성과 — 무엇이, 얼마나 좋아졌는가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1333195" y="1809598"/>
            <a:ext cx="3620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처리량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1333195" y="2095805"/>
            <a:ext cx="362011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700" b="1" kern="0" spc="-11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+150</a:t>
            </a:r>
            <a:r>
              <a:rPr lang="en-US" sz="2400" b="1" kern="0" spc="-11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%</a:t>
            </a:r>
            <a:endParaRPr lang="en-US" sz="3700" dirty="0"/>
          </a:p>
        </p:txBody>
      </p:sp>
      <p:sp>
        <p:nvSpPr>
          <p:cNvPr id="24" name="Text 18"/>
          <p:cNvSpPr txBox="1"/>
          <p:nvPr/>
        </p:nvSpPr>
        <p:spPr>
          <a:xfrm>
            <a:off x="1333195" y="2704795"/>
            <a:ext cx="36201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1.6 → 4.0 팔레트/hr (×2.5)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5429707" y="1809598"/>
            <a:ext cx="3620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완료 박스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5429707" y="2095805"/>
            <a:ext cx="362011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700" b="1" kern="0" spc="-11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+384</a:t>
            </a:r>
            <a:endParaRPr lang="en-US" sz="3700" dirty="0"/>
          </a:p>
        </p:txBody>
      </p:sp>
      <p:sp>
        <p:nvSpPr>
          <p:cNvPr id="27" name="Text 21"/>
          <p:cNvSpPr txBox="1"/>
          <p:nvPr/>
        </p:nvSpPr>
        <p:spPr>
          <a:xfrm>
            <a:off x="5429707" y="2704795"/>
            <a:ext cx="36201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256 → 640 박스 (5시간 · 동일 조건)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9525305" y="1809598"/>
            <a:ext cx="3620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가동률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9525305" y="2095805"/>
            <a:ext cx="362011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700" b="1" kern="0" spc="-11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×2.2</a:t>
            </a:r>
            <a:endParaRPr lang="en-US" sz="3700" dirty="0"/>
          </a:p>
        </p:txBody>
      </p:sp>
      <p:sp>
        <p:nvSpPr>
          <p:cNvPr id="30" name="Text 24"/>
          <p:cNvSpPr txBox="1"/>
          <p:nvPr/>
        </p:nvSpPr>
        <p:spPr>
          <a:xfrm>
            <a:off x="9525305" y="2704795"/>
            <a:ext cx="36201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23% → 50% (+27%p) · AGV 대수 40 → 25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13620902" y="1809598"/>
            <a:ext cx="3620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대수</a:t>
            </a:r>
            <a:endParaRPr lang="en-US" sz="900" dirty="0"/>
          </a:p>
        </p:txBody>
      </p:sp>
      <p:sp>
        <p:nvSpPr>
          <p:cNvPr id="32" name="Text 26"/>
          <p:cNvSpPr txBox="1"/>
          <p:nvPr/>
        </p:nvSpPr>
        <p:spPr>
          <a:xfrm>
            <a:off x="13620902" y="2095805"/>
            <a:ext cx="362011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700" b="1" kern="0" spc="-11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−15 </a:t>
            </a:r>
            <a:r>
              <a:rPr lang="en-US" sz="2400" b="1" kern="0" spc="-11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대</a:t>
            </a:r>
            <a:endParaRPr lang="en-US" sz="3700" dirty="0"/>
          </a:p>
        </p:txBody>
      </p:sp>
      <p:sp>
        <p:nvSpPr>
          <p:cNvPr id="33" name="Text 27"/>
          <p:cNvSpPr txBox="1"/>
          <p:nvPr/>
        </p:nvSpPr>
        <p:spPr>
          <a:xfrm>
            <a:off x="13620902" y="2704795"/>
            <a:ext cx="36201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40 → 25대 (−37.5%) · 더 적게, 더 많이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952805" y="3476549"/>
            <a:ext cx="76206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전략별 정량 기여도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1333195" y="4076395"/>
            <a:ext cx="457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C884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STRATEGY 01</a:t>
            </a:r>
            <a:endParaRPr lang="en-US" sz="900" dirty="0"/>
          </a:p>
        </p:txBody>
      </p:sp>
      <p:sp>
        <p:nvSpPr>
          <p:cNvPr id="36" name="Text 30"/>
          <p:cNvSpPr txBox="1"/>
          <p:nvPr/>
        </p:nvSpPr>
        <p:spPr>
          <a:xfrm>
            <a:off x="1333195" y="4334256"/>
            <a:ext cx="4572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부하 분산</a:t>
            </a:r>
            <a:endParaRPr lang="en-US" sz="1600" dirty="0"/>
          </a:p>
        </p:txBody>
      </p:sp>
      <p:sp>
        <p:nvSpPr>
          <p:cNvPr id="37" name="Text 31"/>
          <p:cNvSpPr txBox="1"/>
          <p:nvPr/>
        </p:nvSpPr>
        <p:spPr>
          <a:xfrm>
            <a:off x="1333195" y="471464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4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selectOutput1 조건 1줄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1333195" y="5143500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13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1 부하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1333195" y="5410505"/>
            <a:ext cx="457200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100% (정체 지속)</a:t>
            </a:r>
            <a:endParaRPr lang="en-US" sz="1200" dirty="0"/>
          </a:p>
        </p:txBody>
      </p:sp>
      <p:sp>
        <p:nvSpPr>
          <p:cNvPr id="40" name="Text 34"/>
          <p:cNvSpPr txBox="1"/>
          <p:nvPr/>
        </p:nvSpPr>
        <p:spPr>
          <a:xfrm>
            <a:off x="1333195" y="6096305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13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2 부하 (사장 자원)</a:t>
            </a:r>
            <a:endParaRPr lang="en-US" sz="900" dirty="0"/>
          </a:p>
        </p:txBody>
      </p:sp>
      <p:sp>
        <p:nvSpPr>
          <p:cNvPr id="41" name="Text 35"/>
          <p:cNvSpPr txBox="1"/>
          <p:nvPr/>
        </p:nvSpPr>
        <p:spPr>
          <a:xfrm>
            <a:off x="1333195" y="6362395"/>
            <a:ext cx="457200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0% → 4.8%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1524305" y="7172554"/>
            <a:ext cx="419161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하류 병목 해소 시 효과 확대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858000" y="4076395"/>
            <a:ext cx="457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C884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STRATEGY 02</a:t>
            </a:r>
            <a:endParaRPr lang="en-US" sz="900" dirty="0"/>
          </a:p>
        </p:txBody>
      </p:sp>
      <p:sp>
        <p:nvSpPr>
          <p:cNvPr id="44" name="Text 38"/>
          <p:cNvSpPr txBox="1"/>
          <p:nvPr/>
        </p:nvSpPr>
        <p:spPr>
          <a:xfrm>
            <a:off x="6858000" y="4334256"/>
            <a:ext cx="4572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최적 운영</a:t>
            </a:r>
            <a:endParaRPr lang="en-US" sz="1600" dirty="0"/>
          </a:p>
        </p:txBody>
      </p:sp>
      <p:sp>
        <p:nvSpPr>
          <p:cNvPr id="45" name="Text 39"/>
          <p:cNvSpPr txBox="1"/>
          <p:nvPr/>
        </p:nvSpPr>
        <p:spPr>
          <a:xfrm>
            <a:off x="6858000" y="471464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대수 최적화 + 최근접 배차</a:t>
            </a:r>
            <a:endParaRPr lang="en-US" sz="1000" dirty="0"/>
          </a:p>
        </p:txBody>
      </p:sp>
      <p:sp>
        <p:nvSpPr>
          <p:cNvPr id="46" name="Text 40"/>
          <p:cNvSpPr txBox="1"/>
          <p:nvPr/>
        </p:nvSpPr>
        <p:spPr>
          <a:xfrm>
            <a:off x="6858000" y="5143500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13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대수</a:t>
            </a:r>
            <a:endParaRPr lang="en-US" sz="900" dirty="0"/>
          </a:p>
        </p:txBody>
      </p:sp>
      <p:sp>
        <p:nvSpPr>
          <p:cNvPr id="47" name="Text 41"/>
          <p:cNvSpPr txBox="1"/>
          <p:nvPr/>
        </p:nvSpPr>
        <p:spPr>
          <a:xfrm>
            <a:off x="6858000" y="5410505"/>
            <a:ext cx="457200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40 대</a:t>
            </a:r>
            <a:r>
              <a:rPr lang="en-US" sz="190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r>
              <a:rPr lang="en-US" sz="24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 대</a:t>
            </a:r>
            <a:r>
              <a:rPr lang="en-US" sz="130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(−37.5%)</a:t>
            </a:r>
            <a:endParaRPr lang="en-US" sz="1200" dirty="0"/>
          </a:p>
        </p:txBody>
      </p:sp>
      <p:sp>
        <p:nvSpPr>
          <p:cNvPr id="48" name="Text 42"/>
          <p:cNvSpPr txBox="1"/>
          <p:nvPr/>
        </p:nvSpPr>
        <p:spPr>
          <a:xfrm>
            <a:off x="6858000" y="6096305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13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평균 가동률</a:t>
            </a:r>
            <a:endParaRPr lang="en-US" sz="900" dirty="0"/>
          </a:p>
        </p:txBody>
      </p:sp>
      <p:sp>
        <p:nvSpPr>
          <p:cNvPr id="49" name="Text 43"/>
          <p:cNvSpPr txBox="1"/>
          <p:nvPr/>
        </p:nvSpPr>
        <p:spPr>
          <a:xfrm>
            <a:off x="6858000" y="6362395"/>
            <a:ext cx="457200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23%→50%(×2.2)</a:t>
            </a:r>
            <a:endParaRPr lang="en-US" sz="1200" dirty="0"/>
          </a:p>
        </p:txBody>
      </p:sp>
      <p:sp>
        <p:nvSpPr>
          <p:cNvPr id="50" name="Text 44"/>
          <p:cNvSpPr txBox="1"/>
          <p:nvPr/>
        </p:nvSpPr>
        <p:spPr>
          <a:xfrm>
            <a:off x="7048195" y="7172554"/>
            <a:ext cx="419161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공주행 감소 · 운영비 절감 동시 달성</a:t>
            </a:r>
            <a:endParaRPr lang="en-US" sz="1100" dirty="0"/>
          </a:p>
        </p:txBody>
      </p:sp>
      <p:sp>
        <p:nvSpPr>
          <p:cNvPr id="51" name="Text 45"/>
          <p:cNvSpPr txBox="1"/>
          <p:nvPr/>
        </p:nvSpPr>
        <p:spPr>
          <a:xfrm>
            <a:off x="12382805" y="4076395"/>
            <a:ext cx="457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C884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STRATEGY 03</a:t>
            </a:r>
            <a:endParaRPr lang="en-US" sz="900" dirty="0"/>
          </a:p>
        </p:txBody>
      </p:sp>
      <p:sp>
        <p:nvSpPr>
          <p:cNvPr id="52" name="Text 46"/>
          <p:cNvSpPr txBox="1"/>
          <p:nvPr/>
        </p:nvSpPr>
        <p:spPr>
          <a:xfrm>
            <a:off x="12382805" y="4334256"/>
            <a:ext cx="4572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슬롯 동적 배정</a:t>
            </a:r>
            <a:endParaRPr lang="en-US" sz="1600" dirty="0"/>
          </a:p>
        </p:txBody>
      </p:sp>
      <p:sp>
        <p:nvSpPr>
          <p:cNvPr id="53" name="Text 47"/>
          <p:cNvSpPr txBox="1"/>
          <p:nvPr/>
        </p:nvSpPr>
        <p:spPr>
          <a:xfrm>
            <a:off x="12382805" y="471464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4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branchRemainingTotal 기반</a:t>
            </a:r>
            <a:endParaRPr lang="en-US" sz="1000" dirty="0"/>
          </a:p>
        </p:txBody>
      </p:sp>
      <p:sp>
        <p:nvSpPr>
          <p:cNvPr id="54" name="Text 48"/>
          <p:cNvSpPr txBox="1"/>
          <p:nvPr/>
        </p:nvSpPr>
        <p:spPr>
          <a:xfrm>
            <a:off x="12382805" y="5143500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13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완료 지점 수 (5hr / 60지점)</a:t>
            </a:r>
            <a:endParaRPr lang="en-US" sz="900" dirty="0"/>
          </a:p>
        </p:txBody>
      </p:sp>
      <p:sp>
        <p:nvSpPr>
          <p:cNvPr id="55" name="Text 49"/>
          <p:cNvSpPr txBox="1"/>
          <p:nvPr/>
        </p:nvSpPr>
        <p:spPr>
          <a:xfrm>
            <a:off x="12382805" y="5410505"/>
            <a:ext cx="457200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1→3(×3 배)</a:t>
            </a:r>
            <a:endParaRPr lang="en-US" sz="1200" dirty="0"/>
          </a:p>
        </p:txBody>
      </p:sp>
      <p:sp>
        <p:nvSpPr>
          <p:cNvPr id="56" name="Text 50"/>
          <p:cNvSpPr txBox="1"/>
          <p:nvPr/>
        </p:nvSpPr>
        <p:spPr>
          <a:xfrm>
            <a:off x="12382805" y="6096305"/>
            <a:ext cx="4572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13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완료 팔레트</a:t>
            </a:r>
            <a:endParaRPr lang="en-US" sz="900" dirty="0"/>
          </a:p>
        </p:txBody>
      </p:sp>
      <p:sp>
        <p:nvSpPr>
          <p:cNvPr id="57" name="Text 51"/>
          <p:cNvSpPr txBox="1"/>
          <p:nvPr/>
        </p:nvSpPr>
        <p:spPr>
          <a:xfrm>
            <a:off x="12382805" y="6362395"/>
            <a:ext cx="457200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0392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8</a:t>
            </a:r>
            <a:r>
              <a:rPr lang="en-US" sz="190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r>
              <a:rPr lang="en-US" sz="31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</a:t>
            </a:r>
            <a:r>
              <a:rPr lang="en-US" sz="130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(+150%)</a:t>
            </a:r>
            <a:endParaRPr lang="en-US" sz="1200" dirty="0"/>
          </a:p>
        </p:txBody>
      </p:sp>
      <p:sp>
        <p:nvSpPr>
          <p:cNvPr id="58" name="Text 52"/>
          <p:cNvSpPr txBox="1"/>
          <p:nvPr/>
        </p:nvSpPr>
        <p:spPr>
          <a:xfrm>
            <a:off x="12573000" y="7172554"/>
            <a:ext cx="419161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7D32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Type C 소량 지점 조기 완료 → 회전율 상승</a:t>
            </a:r>
            <a:endParaRPr lang="en-US" sz="1100" dirty="0"/>
          </a:p>
        </p:txBody>
      </p:sp>
      <p:sp>
        <p:nvSpPr>
          <p:cNvPr id="59" name="Text 53"/>
          <p:cNvSpPr txBox="1"/>
          <p:nvPr/>
        </p:nvSpPr>
        <p:spPr>
          <a:xfrm>
            <a:off x="1429207" y="8334756"/>
            <a:ext cx="154305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3E29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ONE-LINE</a:t>
            </a:r>
            <a:endParaRPr lang="en-US" sz="900" dirty="0"/>
          </a:p>
        </p:txBody>
      </p:sp>
      <p:sp>
        <p:nvSpPr>
          <p:cNvPr id="60" name="Text 54"/>
          <p:cNvSpPr txBox="1"/>
          <p:nvPr/>
        </p:nvSpPr>
        <p:spPr>
          <a:xfrm>
            <a:off x="1428750" y="8545068"/>
            <a:ext cx="15430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ko-KR" sz="1400" b="1" dirty="0">
                <a:latin typeface="Pretendard Variable" panose="02000003000000020004" pitchFamily="2" charset="-127"/>
                <a:ea typeface="Pretendard Variable" panose="02000003000000020004" pitchFamily="2" charset="-127"/>
                <a:cs typeface="Pretendard Variable" panose="02000003000000020004" pitchFamily="2" charset="-127"/>
              </a:rPr>
              <a:t>추가 설비 0원 · 핵심 전략 3가지 + 안정화 설정으로 처리량 +150% · AGV −15대 · 완료 지점 ×3배</a:t>
            </a:r>
            <a:endParaRPr lang="en-US" sz="1400" b="1" dirty="0">
              <a:latin typeface="Pretendard Variable" panose="02000003000000020004" pitchFamily="2" charset="-127"/>
              <a:ea typeface="Pretendard Variable" panose="02000003000000020004" pitchFamily="2" charset="-127"/>
              <a:cs typeface="Pretendard Variable" panose="02000003000000020004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2805" y="9697516"/>
            <a:ext cx="226222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65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K-LOGISTICS · SIMULATION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162374" y="9763049"/>
            <a:ext cx="73609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13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8288000" cy="104790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67514" y="1408175"/>
            <a:ext cx="10477195" cy="2000707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67514" y="3599077"/>
            <a:ext cx="10477195" cy="2000707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67514" y="5789980"/>
            <a:ext cx="10477195" cy="2000707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1811305" y="1952244"/>
            <a:ext cx="5524805" cy="4190695"/>
          </a:xfrm>
          <a:prstGeom prst="roundRect">
            <a:avLst>
              <a:gd name="adj" fmla="val 1811"/>
            </a:avLst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811305" y="6381598"/>
            <a:ext cx="5562295" cy="1285646"/>
          </a:xfrm>
          <a:prstGeom prst="roundRect">
            <a:avLst>
              <a:gd name="adj" fmla="val 4481"/>
            </a:avLst>
          </a:prstGeom>
          <a:solidFill>
            <a:srgbClr val="0E2B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811305" y="6381598"/>
            <a:ext cx="38405" cy="1285646"/>
          </a:xfrm>
          <a:prstGeom prst="roundRect">
            <a:avLst>
              <a:gd name="adj" fmla="val 149999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1871100" y="8429396"/>
            <a:ext cx="5502500" cy="990295"/>
          </a:xfrm>
          <a:prstGeom prst="roundRect">
            <a:avLst>
              <a:gd name="adj" fmla="val 7965"/>
            </a:avLst>
          </a:prstGeom>
          <a:solidFill>
            <a:srgbClr val="EEF2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1832695" y="8429396"/>
            <a:ext cx="38405" cy="952805"/>
          </a:xfrm>
          <a:prstGeom prst="roundRect">
            <a:avLst>
              <a:gd name="adj" fmla="val 197618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0" descr="gen-dedup-809cc88aa64e0cfb0b6be5dae97d77f2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0" y="1047902"/>
            <a:ext cx="18288000" cy="3840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952805" y="286207"/>
            <a:ext cx="1638330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2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12 · 구현 요약 · 검증 방법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52805" y="552298"/>
            <a:ext cx="163833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22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어디를, 어떻게 바꿔서, 어떻게 측정했는가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952807" y="1599285"/>
            <a:ext cx="381305" cy="381305"/>
          </a:xfrm>
          <a:prstGeom prst="ellipse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952807" y="1599285"/>
            <a:ext cx="381305" cy="3813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24307" y="1599285"/>
            <a:ext cx="91440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9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selectOutput1 · 라우팅 블록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524307" y="1837029"/>
            <a:ext cx="91440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제함기 부하 분산 조건 추가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952808" y="2294229"/>
            <a:ext cx="9906610" cy="590702"/>
          </a:xfrm>
          <a:prstGeom prst="roundRect">
            <a:avLst>
              <a:gd name="adj" fmla="val 9752"/>
            </a:avLst>
          </a:prstGeom>
          <a:solidFill>
            <a:srgbClr val="0B2545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 txBox="1"/>
          <p:nvPr/>
        </p:nvSpPr>
        <p:spPr>
          <a:xfrm>
            <a:off x="952807" y="2294229"/>
            <a:ext cx="9906610" cy="59070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14300" rIns="177800" bIns="1143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F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delay_Erector1.size() &lt;= delay_Erector2.size()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52807" y="2884931"/>
            <a:ext cx="9906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제함기 2 0% → 4.8% 활성화 · 제함기 1은 하류 정체로 100% 유지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52807" y="3790187"/>
            <a:ext cx="381305" cy="381305"/>
          </a:xfrm>
          <a:prstGeom prst="ellipse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952807" y="3790187"/>
            <a:ext cx="381305" cy="3813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524307" y="3790187"/>
            <a:ext cx="91440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9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MoveByTransporter · 5개 블록 TransporterRating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524307" y="4027931"/>
            <a:ext cx="91440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최근접 AGV 우선 배차 + 대수 조정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952807" y="4485131"/>
            <a:ext cx="9906611" cy="590702"/>
          </a:xfrm>
          <a:prstGeom prst="roundRect">
            <a:avLst>
              <a:gd name="adj" fmla="val 9752"/>
            </a:avLst>
          </a:prstGeom>
          <a:solidFill>
            <a:srgbClr val="0B2545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952807" y="4485131"/>
            <a:ext cx="9906611" cy="59070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14300" rIns="177800" bIns="1143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F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−unit.distanceTo(agent) · agvCount = 25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52807" y="5075833"/>
            <a:ext cx="9906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AGV 가동률 23% → 50% (×2.2) · 운영 대수 −15대 (−37.5%)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52807" y="5980175"/>
            <a:ext cx="381305" cy="381305"/>
          </a:xfrm>
          <a:prstGeom prst="ellipse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952807" y="5980175"/>
            <a:ext cx="381305" cy="3813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1524307" y="5980175"/>
            <a:ext cx="91440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9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selectOutput6/7 · 슬롯 배정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524307" y="6218833"/>
            <a:ext cx="91440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잔여 박스 기반 동적 배정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952808" y="6676033"/>
            <a:ext cx="9906610" cy="590702"/>
          </a:xfrm>
          <a:prstGeom prst="roundRect">
            <a:avLst>
              <a:gd name="adj" fmla="val 9752"/>
            </a:avLst>
          </a:prstGeom>
          <a:solidFill>
            <a:srgbClr val="0B2545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952807" y="6676033"/>
            <a:ext cx="9906611" cy="59070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14300" rIns="177800" bIns="1143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F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selectOutput6/7 · slotBranches[4] ← branchRemainingTotal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952807" y="7266736"/>
            <a:ext cx="9906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완료 지점 1/60 → 3/60 (×3배) · 완료 팔레트 8 → 20 (+150%)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1811305" y="1524305"/>
            <a:ext cx="5524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6B748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동일 조건 통제 · 검증 방법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12191695" y="2190902"/>
            <a:ext cx="4763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EXPERIMENT DESIGN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12191695" y="2457907"/>
            <a:ext cx="47631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AS-IS · TO-BE 모델 대조 실험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12191695" y="2905049"/>
            <a:ext cx="4763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13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동일하게 통제한 것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12191695" y="3110789"/>
            <a:ext cx="4763110" cy="1843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시뮬레이션 엔진 : AnyLogic PLE 8.9.8</a:t>
            </a:r>
            <a:endParaRPr lang="en-US" sz="1000" dirty="0"/>
          </a:p>
          <a:p>
            <a:pPr marL="0" indent="0" algn="l">
              <a:lnSpc>
                <a:spcPts val="1785"/>
              </a:lnSpc>
              <a:buNone/>
            </a:pPr>
            <a:r>
              <a:rPr 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시뮬레이션 시간 : 18,000초 (5시간)</a:t>
            </a:r>
            <a:endParaRPr lang="en-US" sz="1000" dirty="0"/>
          </a:p>
          <a:p>
            <a:pPr marL="0" indent="0" algn="l">
              <a:lnSpc>
                <a:spcPts val="1785"/>
              </a:lnSpc>
              <a:buNone/>
            </a:pPr>
            <a:r>
              <a:rPr 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주문 데이터 : database/db.script (SHEET1)</a:t>
            </a:r>
            <a:endParaRPr lang="en-US" sz="1000" dirty="0"/>
          </a:p>
          <a:p>
            <a:pPr marL="0" indent="0" algn="l">
              <a:lnSpc>
                <a:spcPts val="1785"/>
              </a:lnSpc>
              <a:buNone/>
            </a:pPr>
            <a:r>
              <a:rPr 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60개 지점 · 8,858 박스 (동일 시드)</a:t>
            </a:r>
            <a:endParaRPr lang="en-US" sz="1000" dirty="0"/>
          </a:p>
          <a:p>
            <a:pPr marL="0" indent="0" algn="l">
              <a:lnSpc>
                <a:spcPts val="1785"/>
              </a:lnSpc>
              <a:buNone/>
            </a:pPr>
            <a:r>
              <a:rPr 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설비 스펙 : 제함기 · AGV · 컨베이어 ·</a:t>
            </a:r>
            <a:endParaRPr lang="en-US" sz="1000" dirty="0"/>
          </a:p>
          <a:p>
            <a:pPr marL="0" indent="0" algn="l">
              <a:lnSpc>
                <a:spcPts val="1785"/>
              </a:lnSpc>
              <a:buNone/>
            </a:pPr>
            <a:r>
              <a:rPr 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봉함기 · 파렛타이저 모두 동일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12191695" y="5048402"/>
            <a:ext cx="4763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13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달라진 것 (독립 변수)</a:t>
            </a:r>
            <a:endParaRPr lang="en-US" sz="900" dirty="0"/>
          </a:p>
        </p:txBody>
      </p:sp>
      <p:sp>
        <p:nvSpPr>
          <p:cNvPr id="44" name="Text 41"/>
          <p:cNvSpPr txBox="1"/>
          <p:nvPr/>
        </p:nvSpPr>
        <p:spPr>
          <a:xfrm>
            <a:off x="12191695" y="5253228"/>
            <a:ext cx="4763110" cy="700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라우팅 조건 · AGV 배차 로직</a:t>
            </a:r>
            <a:endParaRPr lang="en-US" sz="1000" dirty="0"/>
          </a:p>
          <a:p>
            <a:pPr marL="0" indent="0" algn="l">
              <a:lnSpc>
                <a:spcPts val="1785"/>
              </a:lnSpc>
              <a:buNone/>
            </a:pPr>
            <a:r>
              <a:rPr 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AGV 대수 · 슬롯 </a:t>
            </a:r>
            <a:r>
              <a:rPr lang="en-US" sz="1000" dirty="0" err="1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배정</a:t>
            </a:r>
            <a:r>
              <a:rPr 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en-US" sz="1000" dirty="0" err="1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규칙</a:t>
            </a:r>
            <a:endParaRPr lang="en-US" sz="1000" dirty="0">
              <a:solidFill>
                <a:srgbClr val="E8F0FF"/>
              </a:solidFill>
              <a:latin typeface="Pretendard Variable" pitchFamily="34" charset="0"/>
              <a:ea typeface="Pretendard Variable" pitchFamily="34" charset="-122"/>
              <a:cs typeface="Pretendard Variable" pitchFamily="34" charset="-120"/>
            </a:endParaRPr>
          </a:p>
          <a:p>
            <a:pPr>
              <a:lnSpc>
                <a:spcPts val="1785"/>
              </a:lnSpc>
            </a:pPr>
            <a:r>
              <a:rPr lang="en-US" sz="1000" dirty="0" err="1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transporterFleet</a:t>
            </a:r>
            <a:r>
              <a:rPr 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ko-KR" alt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안정화</a:t>
            </a:r>
            <a:r>
              <a:rPr lang="en-US" altLang="ko-KR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ko-KR" altLang="ko-KR" sz="1200" dirty="0">
                <a:solidFill>
                  <a:schemeClr val="bg1"/>
                </a:solidFill>
              </a:rPr>
              <a:t>·</a:t>
            </a:r>
            <a:r>
              <a:rPr lang="en-US" altLang="ko-KR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ko-KR" alt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경로 용량 제한</a:t>
            </a:r>
            <a:endParaRPr lang="en-US" sz="1000" dirty="0">
              <a:solidFill>
                <a:srgbClr val="E8F0FF"/>
              </a:solidFill>
              <a:latin typeface="Pretendard Variable" pitchFamily="34" charset="0"/>
              <a:ea typeface="Pretendard Variable" pitchFamily="34" charset="-122"/>
              <a:cs typeface="Pretendard Variable" pitchFamily="34" charset="-120"/>
            </a:endParaRPr>
          </a:p>
        </p:txBody>
      </p:sp>
      <p:sp>
        <p:nvSpPr>
          <p:cNvPr id="45" name="Text 42"/>
          <p:cNvSpPr txBox="1"/>
          <p:nvPr/>
        </p:nvSpPr>
        <p:spPr>
          <a:xfrm>
            <a:off x="12191695" y="6572707"/>
            <a:ext cx="4763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SENSITIVITY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12191695" y="6805879"/>
            <a:ext cx="476311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15 · 20 · 25 · 35대 4수준 실험</a:t>
            </a:r>
            <a:endParaRPr lang="en-US" sz="1000" dirty="0"/>
          </a:p>
          <a:p>
            <a:pPr marL="0" indent="0" algn="l">
              <a:lnSpc>
                <a:spcPts val="1785"/>
              </a:lnSpc>
              <a:buNone/>
            </a:pPr>
            <a:r>
              <a:rPr lang="en-US" sz="1000" dirty="0">
                <a:solidFill>
                  <a:srgbClr val="E8F0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15~35대 처리량 동일 (20팔레트)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12190780" y="8431129"/>
            <a:ext cx="497159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DELIVERABLES · 제출물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12190780" y="8669788"/>
            <a:ext cx="4971593" cy="5047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AS_IS_Model.alpx (기준) · To_Be_Model.alpx (개선) · database/db.script · PRESENTATION_CHECKLIST.md</a:t>
            </a:r>
            <a:endParaRPr lang="en-US" sz="11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파라미터 agvCount 등 UI에서 즉시 조정 가능 · 5시간 처리 실적 패널로 KPI 재현 확인</a:t>
            </a:r>
            <a:endParaRPr lang="en-US" sz="1100" dirty="0"/>
          </a:p>
        </p:txBody>
      </p:sp>
      <p:sp>
        <p:nvSpPr>
          <p:cNvPr id="82" name="Shape 5">
            <a:extLst>
              <a:ext uri="{FF2B5EF4-FFF2-40B4-BE49-F238E27FC236}">
                <a16:creationId xmlns:a16="http://schemas.microsoft.com/office/drawing/2014/main" id="{F851CB92-5D66-5AA6-FD6E-8799E857C16A}"/>
              </a:ext>
            </a:extLst>
          </p:cNvPr>
          <p:cNvSpPr/>
          <p:nvPr/>
        </p:nvSpPr>
        <p:spPr>
          <a:xfrm>
            <a:off x="667514" y="7980882"/>
            <a:ext cx="10477195" cy="2000707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DEE4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28">
            <a:extLst>
              <a:ext uri="{FF2B5EF4-FFF2-40B4-BE49-F238E27FC236}">
                <a16:creationId xmlns:a16="http://schemas.microsoft.com/office/drawing/2014/main" id="{061E97A1-8C45-528A-E015-261E747BC932}"/>
              </a:ext>
            </a:extLst>
          </p:cNvPr>
          <p:cNvSpPr/>
          <p:nvPr/>
        </p:nvSpPr>
        <p:spPr>
          <a:xfrm>
            <a:off x="952807" y="8171077"/>
            <a:ext cx="381305" cy="381305"/>
          </a:xfrm>
          <a:prstGeom prst="ellipse">
            <a:avLst/>
          </a:prstGeom>
          <a:solidFill>
            <a:srgbClr val="0B2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Text 29">
            <a:extLst>
              <a:ext uri="{FF2B5EF4-FFF2-40B4-BE49-F238E27FC236}">
                <a16:creationId xmlns:a16="http://schemas.microsoft.com/office/drawing/2014/main" id="{5AEECF84-D44A-DE7C-DAB3-D9CE59A1A62D}"/>
              </a:ext>
            </a:extLst>
          </p:cNvPr>
          <p:cNvSpPr/>
          <p:nvPr/>
        </p:nvSpPr>
        <p:spPr>
          <a:xfrm>
            <a:off x="952807" y="8171077"/>
            <a:ext cx="381305" cy="3813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</a:t>
            </a:r>
            <a:endParaRPr lang="en-US" sz="1500" dirty="0"/>
          </a:p>
        </p:txBody>
      </p:sp>
      <p:sp>
        <p:nvSpPr>
          <p:cNvPr id="88" name="Text 30">
            <a:extLst>
              <a:ext uri="{FF2B5EF4-FFF2-40B4-BE49-F238E27FC236}">
                <a16:creationId xmlns:a16="http://schemas.microsoft.com/office/drawing/2014/main" id="{DDD79B96-9214-9F34-D313-44D5EC403C67}"/>
              </a:ext>
            </a:extLst>
          </p:cNvPr>
          <p:cNvSpPr txBox="1"/>
          <p:nvPr/>
        </p:nvSpPr>
        <p:spPr>
          <a:xfrm>
            <a:off x="1524307" y="8171077"/>
            <a:ext cx="91440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1200" b="1" kern="0" spc="90" dirty="0">
                <a:solidFill>
                  <a:srgbClr val="6B7488"/>
                </a:solidFill>
                <a:latin typeface="JetBrains Mono"/>
                <a:ea typeface="Pretendard Variable" pitchFamily="34" charset="-122"/>
                <a:cs typeface="Pretendard Variable" pitchFamily="34" charset="-120"/>
              </a:rPr>
              <a:t>안정화</a:t>
            </a:r>
            <a:r>
              <a:rPr lang="en-US" altLang="ko-KR" sz="1200" b="1" kern="0" spc="90" dirty="0">
                <a:solidFill>
                  <a:srgbClr val="6B7488"/>
                </a:solidFill>
                <a:latin typeface="JetBrains Mono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ko-KR" altLang="ko-KR" sz="1200" dirty="0">
                <a:latin typeface="JetBrains Mono"/>
              </a:rPr>
              <a:t>·</a:t>
            </a:r>
            <a:r>
              <a:rPr lang="en-US" altLang="ko-KR" sz="1200" b="1" kern="0" spc="90" dirty="0">
                <a:solidFill>
                  <a:srgbClr val="6B7488"/>
                </a:solidFill>
                <a:latin typeface="JetBrains Mono"/>
                <a:ea typeface="Pretendard Variable" pitchFamily="34" charset="-122"/>
                <a:cs typeface="Pretendard Variable" pitchFamily="34" charset="-120"/>
              </a:rPr>
              <a:t> </a:t>
            </a:r>
            <a:r>
              <a:rPr lang="ko-KR" altLang="en-US" sz="1200" b="1" kern="0" spc="90" dirty="0">
                <a:solidFill>
                  <a:srgbClr val="6B7488"/>
                </a:solidFill>
                <a:latin typeface="JetBrains Mono"/>
                <a:ea typeface="Pretendard Variable" pitchFamily="34" charset="-122"/>
                <a:cs typeface="Pretendard Variable" pitchFamily="34" charset="-120"/>
              </a:rPr>
              <a:t>교착방지</a:t>
            </a:r>
            <a:endParaRPr lang="en-US" sz="1200" dirty="0">
              <a:latin typeface="JetBrains Mono"/>
            </a:endParaRPr>
          </a:p>
        </p:txBody>
      </p:sp>
      <p:sp>
        <p:nvSpPr>
          <p:cNvPr id="90" name="Text 31">
            <a:extLst>
              <a:ext uri="{FF2B5EF4-FFF2-40B4-BE49-F238E27FC236}">
                <a16:creationId xmlns:a16="http://schemas.microsoft.com/office/drawing/2014/main" id="{A168A6FA-82A7-0075-9F20-DC85B35F419D}"/>
              </a:ext>
            </a:extLst>
          </p:cNvPr>
          <p:cNvSpPr txBox="1"/>
          <p:nvPr/>
        </p:nvSpPr>
        <p:spPr>
          <a:xfrm>
            <a:off x="1524307" y="8409735"/>
            <a:ext cx="91440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transporterFleet</a:t>
            </a:r>
            <a:r>
              <a:rPr lang="ko-KR" altLang="en-US" sz="14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설정 </a:t>
            </a:r>
            <a:r>
              <a:rPr lang="en-US" altLang="ko-KR" sz="14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 </a:t>
            </a:r>
            <a:r>
              <a:rPr lang="ko-KR" altLang="en-US" sz="1400" b="1" dirty="0">
                <a:solidFill>
                  <a:srgbClr val="0B254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교차로 경로 용량 제한</a:t>
            </a:r>
            <a:endParaRPr lang="en-US" sz="1400" dirty="0"/>
          </a:p>
        </p:txBody>
      </p:sp>
      <p:sp>
        <p:nvSpPr>
          <p:cNvPr id="92" name="Shape 32">
            <a:extLst>
              <a:ext uri="{FF2B5EF4-FFF2-40B4-BE49-F238E27FC236}">
                <a16:creationId xmlns:a16="http://schemas.microsoft.com/office/drawing/2014/main" id="{DED8F694-A26C-603C-430F-413BA5F0C3C5}"/>
              </a:ext>
            </a:extLst>
          </p:cNvPr>
          <p:cNvSpPr/>
          <p:nvPr/>
        </p:nvSpPr>
        <p:spPr>
          <a:xfrm>
            <a:off x="952808" y="8866935"/>
            <a:ext cx="9906610" cy="590702"/>
          </a:xfrm>
          <a:prstGeom prst="roundRect">
            <a:avLst>
              <a:gd name="adj" fmla="val 9752"/>
            </a:avLst>
          </a:prstGeom>
          <a:solidFill>
            <a:srgbClr val="0B2545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33">
            <a:extLst>
              <a:ext uri="{FF2B5EF4-FFF2-40B4-BE49-F238E27FC236}">
                <a16:creationId xmlns:a16="http://schemas.microsoft.com/office/drawing/2014/main" id="{1090A1E8-CBC2-F343-5DEA-A746FA393C60}"/>
              </a:ext>
            </a:extLst>
          </p:cNvPr>
          <p:cNvSpPr txBox="1"/>
          <p:nvPr/>
        </p:nvSpPr>
        <p:spPr>
          <a:xfrm>
            <a:off x="952807" y="8866935"/>
            <a:ext cx="9906611" cy="59070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14300" rIns="177800" bIns="114300" rtlCol="0" anchor="ctr"/>
          <a:lstStyle/>
          <a:p>
            <a:r>
              <a:rPr lang="ko-KR" altLang="ko-KR" sz="1200" dirty="0" err="1">
                <a:latin typeface="JetBrains Mono"/>
              </a:rPr>
              <a:t>recognizeAllTransporters</a:t>
            </a:r>
            <a:r>
              <a:rPr lang="ko-KR" altLang="ko-KR" sz="1200" dirty="0">
                <a:latin typeface="JetBrains Mono"/>
              </a:rPr>
              <a:t> = </a:t>
            </a:r>
            <a:r>
              <a:rPr lang="ko-KR" altLang="ko-KR" sz="1200" dirty="0" err="1">
                <a:latin typeface="JetBrains Mono"/>
              </a:rPr>
              <a:t>true</a:t>
            </a:r>
            <a:endParaRPr lang="ko-KR" altLang="ko-KR" sz="1200" dirty="0">
              <a:latin typeface="JetBrains Mono"/>
            </a:endParaRPr>
          </a:p>
          <a:p>
            <a:r>
              <a:rPr lang="ko-KR" altLang="ko-KR" sz="1200" dirty="0" err="1">
                <a:latin typeface="JetBrains Mono"/>
              </a:rPr>
              <a:t>delayToResumeMovement</a:t>
            </a:r>
            <a:r>
              <a:rPr lang="ko-KR" altLang="ko-KR" sz="1200" dirty="0">
                <a:latin typeface="JetBrains Mono"/>
              </a:rPr>
              <a:t> = 1초</a:t>
            </a:r>
          </a:p>
          <a:p>
            <a:r>
              <a:rPr lang="ko-KR" altLang="ko-KR" sz="1200" dirty="0">
                <a:latin typeface="JetBrains Mono"/>
              </a:rPr>
              <a:t>path21 · path29 = 2대 · path67 · path68 = 1대</a:t>
            </a:r>
          </a:p>
        </p:txBody>
      </p:sp>
      <p:sp>
        <p:nvSpPr>
          <p:cNvPr id="96" name="Text 34">
            <a:extLst>
              <a:ext uri="{FF2B5EF4-FFF2-40B4-BE49-F238E27FC236}">
                <a16:creationId xmlns:a16="http://schemas.microsoft.com/office/drawing/2014/main" id="{7987500C-E18B-7D6C-59FC-834095ACC2F6}"/>
              </a:ext>
            </a:extLst>
          </p:cNvPr>
          <p:cNvSpPr txBox="1"/>
          <p:nvPr/>
        </p:nvSpPr>
        <p:spPr>
          <a:xfrm>
            <a:off x="952807" y="9457638"/>
            <a:ext cx="9906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100" dirty="0">
                <a:solidFill>
                  <a:srgbClr val="3A435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안정화 설정으로 15~35대 정상 운영 · agvCount=25 기준 시나리오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5715000"/>
            <a:ext cx="16420795" cy="1714500"/>
          </a:xfrm>
          <a:prstGeom prst="roundRect">
            <a:avLst>
              <a:gd name="adj" fmla="val 336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52805" y="5715000"/>
            <a:ext cx="38405" cy="1714500"/>
          </a:xfrm>
          <a:prstGeom prst="roundRect">
            <a:avLst>
              <a:gd name="adj" fmla="val 149999"/>
            </a:avLst>
          </a:prstGeom>
          <a:solidFill>
            <a:srgbClr val="F0A500"/>
          </a:solidFill>
          <a:ln w="12700">
            <a:solidFill>
              <a:srgbClr val="F0A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2805" y="7810805"/>
            <a:ext cx="16383305" cy="1714500"/>
          </a:xfrm>
          <a:prstGeom prst="roundRect">
            <a:avLst>
              <a:gd name="adj" fmla="val 336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gen-dedup-c9fedbe5697efea94250ada842c52a00.png"/>
          <p:cNvPicPr>
            <a:picLocks noChangeAspect="1"/>
          </p:cNvPicPr>
          <p:nvPr/>
        </p:nvPicPr>
        <p:blipFill>
          <a:blip r:embed="rId3"/>
          <a:srcRect t="-2083" b="-2083"/>
          <a:stretch/>
        </p:blipFill>
        <p:spPr>
          <a:xfrm>
            <a:off x="5048402" y="6001207"/>
            <a:ext cx="9144" cy="1143000"/>
          </a:xfrm>
          <a:prstGeom prst="rect">
            <a:avLst/>
          </a:prstGeom>
        </p:spPr>
      </p:pic>
      <p:pic>
        <p:nvPicPr>
          <p:cNvPr id="6" name="Image 1" descr="gen-dedup-c9fedbe5697efea94250ada842c52a00.png"/>
          <p:cNvPicPr>
            <a:picLocks noChangeAspect="1"/>
          </p:cNvPicPr>
          <p:nvPr/>
        </p:nvPicPr>
        <p:blipFill>
          <a:blip r:embed="rId3"/>
          <a:srcRect t="-2083" b="-2083"/>
          <a:stretch/>
        </p:blipFill>
        <p:spPr>
          <a:xfrm>
            <a:off x="9144000" y="6001207"/>
            <a:ext cx="9144" cy="1143000"/>
          </a:xfrm>
          <a:prstGeom prst="rect">
            <a:avLst/>
          </a:prstGeom>
        </p:spPr>
      </p:pic>
      <p:pic>
        <p:nvPicPr>
          <p:cNvPr id="7" name="Image 2" descr="gen-dedup-c9fedbe5697efea94250ada842c52a00.png"/>
          <p:cNvPicPr>
            <a:picLocks noChangeAspect="1"/>
          </p:cNvPicPr>
          <p:nvPr/>
        </p:nvPicPr>
        <p:blipFill>
          <a:blip r:embed="rId3"/>
          <a:srcRect t="-2083" b="-2083"/>
          <a:stretch/>
        </p:blipFill>
        <p:spPr>
          <a:xfrm>
            <a:off x="13239598" y="6001207"/>
            <a:ext cx="9144" cy="1143000"/>
          </a:xfrm>
          <a:prstGeom prst="rect">
            <a:avLst/>
          </a:prstGeom>
        </p:spPr>
      </p:pic>
      <p:pic>
        <p:nvPicPr>
          <p:cNvPr id="8" name="Image 3" descr="gen-dedup-780468a5104268741574653e0684263a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1143000" y="1867205"/>
            <a:ext cx="1714500" cy="47549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1143000" y="1333195"/>
            <a:ext cx="160020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375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THANK YOU · Q &amp; A</a:t>
            </a:r>
            <a:endParaRPr lang="en-US" sz="1400" dirty="0"/>
          </a:p>
        </p:txBody>
      </p:sp>
      <p:sp>
        <p:nvSpPr>
          <p:cNvPr id="10" name="Text 4"/>
          <p:cNvSpPr txBox="1"/>
          <p:nvPr/>
        </p:nvSpPr>
        <p:spPr>
          <a:xfrm>
            <a:off x="1143000" y="2428646"/>
            <a:ext cx="16002000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0" b="1" kern="0" spc="-225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감사합니다</a:t>
            </a:r>
            <a:endParaRPr lang="en-US" sz="11200" dirty="0"/>
          </a:p>
        </p:txBody>
      </p:sp>
      <p:sp>
        <p:nvSpPr>
          <p:cNvPr id="11" name="Text 5"/>
          <p:cNvSpPr txBox="1"/>
          <p:nvPr/>
        </p:nvSpPr>
        <p:spPr>
          <a:xfrm>
            <a:off x="1143000" y="4667098"/>
            <a:ext cx="16002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kern="0" spc="15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(주)K-Logistics 풀필먼트 센터 · 피킹 프로세스 효율화</a:t>
            </a:r>
            <a:endParaRPr lang="en-US" sz="1800" dirty="0"/>
          </a:p>
        </p:txBody>
      </p:sp>
      <p:sp>
        <p:nvSpPr>
          <p:cNvPr id="12" name="Text 6"/>
          <p:cNvSpPr txBox="1"/>
          <p:nvPr/>
        </p:nvSpPr>
        <p:spPr>
          <a:xfrm>
            <a:off x="1524305" y="6001207"/>
            <a:ext cx="3238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처리량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1524305" y="6286500"/>
            <a:ext cx="3238805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+150</a:t>
            </a:r>
            <a:r>
              <a:rPr lang="en-US" sz="2100" b="1" kern="0" spc="-75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%</a:t>
            </a:r>
            <a:endParaRPr lang="en-US" sz="3300" dirty="0"/>
          </a:p>
        </p:txBody>
      </p:sp>
      <p:sp>
        <p:nvSpPr>
          <p:cNvPr id="14" name="Text 8"/>
          <p:cNvSpPr txBox="1"/>
          <p:nvPr/>
        </p:nvSpPr>
        <p:spPr>
          <a:xfrm>
            <a:off x="1524305" y="6877202"/>
            <a:ext cx="32388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1.6 → 4.0 팔레트/hr</a:t>
            </a:r>
            <a:endParaRPr lang="en-US" sz="1100" dirty="0"/>
          </a:p>
        </p:txBody>
      </p:sp>
      <p:sp>
        <p:nvSpPr>
          <p:cNvPr id="15" name="Text 9"/>
          <p:cNvSpPr txBox="1"/>
          <p:nvPr/>
        </p:nvSpPr>
        <p:spPr>
          <a:xfrm>
            <a:off x="5619902" y="6001207"/>
            <a:ext cx="3238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완료 박스</a:t>
            </a:r>
            <a:endParaRPr lang="en-US" sz="900" dirty="0"/>
          </a:p>
        </p:txBody>
      </p:sp>
      <p:sp>
        <p:nvSpPr>
          <p:cNvPr id="16" name="Text 10"/>
          <p:cNvSpPr txBox="1"/>
          <p:nvPr/>
        </p:nvSpPr>
        <p:spPr>
          <a:xfrm>
            <a:off x="5619902" y="6286500"/>
            <a:ext cx="3238805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+384</a:t>
            </a:r>
            <a:endParaRPr lang="en-US" sz="3300" dirty="0"/>
          </a:p>
        </p:txBody>
      </p:sp>
      <p:sp>
        <p:nvSpPr>
          <p:cNvPr id="17" name="Text 11"/>
          <p:cNvSpPr txBox="1"/>
          <p:nvPr/>
        </p:nvSpPr>
        <p:spPr>
          <a:xfrm>
            <a:off x="5619902" y="6877202"/>
            <a:ext cx="32388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256 → 640 박스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9715500" y="6001207"/>
            <a:ext cx="3238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AGV 대수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715500" y="6286500"/>
            <a:ext cx="3238805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−15</a:t>
            </a:r>
            <a:r>
              <a:rPr lang="en-US" sz="2100" b="1" kern="0" spc="-75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대</a:t>
            </a:r>
            <a:endParaRPr lang="en-US" sz="3300" dirty="0"/>
          </a:p>
        </p:txBody>
      </p:sp>
      <p:sp>
        <p:nvSpPr>
          <p:cNvPr id="20" name="Text 14"/>
          <p:cNvSpPr txBox="1"/>
          <p:nvPr/>
        </p:nvSpPr>
        <p:spPr>
          <a:xfrm>
            <a:off x="9715500" y="6877202"/>
            <a:ext cx="32388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40 → 25대 (−37.5%)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13811098" y="6001207"/>
            <a:ext cx="3238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완료 지점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13811098" y="6286500"/>
            <a:ext cx="3238805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×3배</a:t>
            </a:r>
            <a:endParaRPr lang="en-US" sz="3300" dirty="0"/>
          </a:p>
        </p:txBody>
      </p:sp>
      <p:sp>
        <p:nvSpPr>
          <p:cNvPr id="23" name="Text 17"/>
          <p:cNvSpPr txBox="1"/>
          <p:nvPr/>
        </p:nvSpPr>
        <p:spPr>
          <a:xfrm>
            <a:off x="13811098" y="6877202"/>
            <a:ext cx="32388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1/60 → 3/60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524305" y="8096098"/>
            <a:ext cx="49533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TEAM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524305" y="8382305"/>
            <a:ext cx="4953305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인하이트 (Inhite)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524305" y="8801100"/>
            <a:ext cx="4953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김철중 · 김시현 · 정민재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7810805" y="8096098"/>
            <a:ext cx="64776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SCHOOL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7810805" y="8382305"/>
            <a:ext cx="6477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인하공업전문대학 컴퓨터정보공학과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7810805" y="8801100"/>
            <a:ext cx="6477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지도교수 조규철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14287500" y="8096098"/>
            <a:ext cx="30486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F0A500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DATE</a:t>
            </a:r>
            <a:endParaRPr lang="en-US" sz="900" dirty="0"/>
          </a:p>
        </p:txBody>
      </p:sp>
      <p:sp>
        <p:nvSpPr>
          <p:cNvPr id="31" name="Text 25"/>
          <p:cNvSpPr txBox="1"/>
          <p:nvPr/>
        </p:nvSpPr>
        <p:spPr>
          <a:xfrm>
            <a:off x="14287500" y="8382305"/>
            <a:ext cx="3048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2026. 05. 17.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14287500" y="8801100"/>
            <a:ext cx="3048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5E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본선 발표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3092</Words>
  <Application>Microsoft Office PowerPoint</Application>
  <PresentationFormat>사용자 지정</PresentationFormat>
  <Paragraphs>492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JetBrains Mono</vt:lpstr>
      <vt:lpstr>Pretendard Variable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시현 김</cp:lastModifiedBy>
  <cp:revision>24</cp:revision>
  <dcterms:created xsi:type="dcterms:W3CDTF">2026-07-09T23:57:09Z</dcterms:created>
  <dcterms:modified xsi:type="dcterms:W3CDTF">2026-07-11T11:15:10Z</dcterms:modified>
</cp:coreProperties>
</file>
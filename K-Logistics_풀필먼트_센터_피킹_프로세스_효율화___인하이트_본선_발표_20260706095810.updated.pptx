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6.png"/><Relationship Id="rId8" Type="http://schemas.openxmlformats.org/officeDocument/2006/relationships/image" Target="../media/image-12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d7f10f282f3c4b4a9471965e2f988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1f4a72c72c5b107a06ac96fda961013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810805"/>
            <a:ext cx="16040405" cy="152430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5" name="Shape 1"/>
          <p:cNvSpPr/>
          <p:nvPr/>
        </p:nvSpPr>
        <p:spPr>
          <a:xfrm>
            <a:off x="1143000" y="7810805"/>
            <a:ext cx="38405" cy="1524305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2" descr="gen-dedup-780468a5104268741574653e0684263a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1143000" y="2343607"/>
            <a:ext cx="1714500" cy="4754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1047902"/>
            <a:ext cx="1600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23RD KOREA COLLEGIATE COMPUTER SIMULATION COMPETITION · FINALS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1485900"/>
            <a:ext cx="1600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spc="150" kern="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제23회 한국 대학생 컴퓨터 시뮬레이션 경진대회 · 본선 발표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762402"/>
            <a:ext cx="1600200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75" kern="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(주)K-Logistics 풀필먼트 센터</a:t>
            </a:r>
            <a:endParaRPr lang="en-US" sz="30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3448202"/>
            <a:ext cx="160020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spc="-7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피킹 프로세스 효율화</a:t>
            </a:r>
            <a:pPr algn="l" indent="0" marL="0">
              <a:buNone/>
            </a:pPr>
            <a:endParaRPr lang="en-US" sz="6600" dirty="0"/>
          </a:p>
          <a:p>
            <a:pPr algn="l" indent="0" marL="0">
              <a:buNone/>
            </a:pPr>
            <a:r>
              <a:rPr lang="en-US" sz="6600" b="1" spc="-7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생산성 극대화</a:t>
            </a:r>
            <a:endParaRPr lang="en-US" sz="66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6476695"/>
            <a:ext cx="1600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0E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Zero-Cost 운영 로직 기반 병목 해소 · AnyLogic PLE 시뮬레이션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8096098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8382305"/>
            <a:ext cx="49533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인하이트 (Inhite)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8991295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김철중 · 김시현 · 정민재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0" y="8096098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SCHOOL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0" y="8382305"/>
            <a:ext cx="5715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인하공업전문대학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8791956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컴퓨터정보공학과 · 지도교수 조규철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2954305" y="8096098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954305" y="8382305"/>
            <a:ext cx="3810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2026. 05. 17.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2954305" y="8772754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본선 발표 자료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663319719e14c237e87b00f0bb8b28b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3429000"/>
            <a:ext cx="5333695" cy="2723998"/>
          </a:xfrm>
          <a:prstGeom prst="rect">
            <a:avLst/>
          </a:prstGeom>
        </p:spPr>
      </p:pic>
      <p:pic>
        <p:nvPicPr>
          <p:cNvPr id="4" name="Image 1" descr="gen-dedup-d5f0289b7968dafec60ecb8ab51ee2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6695" y="3429000"/>
            <a:ext cx="5333695" cy="2723998"/>
          </a:xfrm>
          <a:prstGeom prst="rect">
            <a:avLst/>
          </a:prstGeom>
        </p:spPr>
      </p:pic>
      <p:pic>
        <p:nvPicPr>
          <p:cNvPr id="5" name="Image 2" descr="gen-dedup-3f9fbb7c439eacfd86225302aa4cc3e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001500" y="3429000"/>
            <a:ext cx="5333695" cy="272399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52805" y="6667805"/>
            <a:ext cx="16439998" cy="2667305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952805" y="6667805"/>
            <a:ext cx="57607" cy="2667305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문제 배경 및 목표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다품종 소량 주문 시대, 피킹 병목이 처리량을 정한다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1477670"/>
            <a:ext cx="16383305" cy="875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1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(주)K-Logistics 풀필먼트 센터는 </a:t>
            </a:r>
            <a:pPr algn="l" indent="0" marL="0">
              <a:lnSpc>
                <a:spcPts val="3255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60개 지점의 하루 주문 8,858박스</a:t>
            </a:r>
            <a:pPr algn="l" indent="0" marL="0">
              <a:lnSpc>
                <a:spcPts val="3255"/>
              </a:lnSpc>
              <a:buNone/>
            </a:pPr>
            <a:r>
              <a:rPr lang="en-US" sz="21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제함 → 피킹 → 봉함 → 팔레타이징 순서로 처리하는 허브 물류센터다. </a:t>
            </a:r>
            <a:pPr algn="l" indent="0" marL="0">
              <a:lnSpc>
                <a:spcPts val="3255"/>
              </a:lnSpc>
              <a:buNone/>
            </a:pPr>
            <a:endParaRPr lang="en-US" sz="2100" dirty="0"/>
          </a:p>
          <a:p>
            <a:pPr algn="l" indent="0" marL="0">
              <a:lnSpc>
                <a:spcPts val="3255"/>
              </a:lnSpc>
              <a:buNone/>
            </a:pPr>
            <a:r>
              <a:rPr lang="en-US" sz="2100" b="1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하드웨어 변경 없이 운영 로직만 개선</a:t>
            </a:r>
            <a:pPr algn="l" indent="0" marL="0">
              <a:lnSpc>
                <a:spcPts val="3255"/>
              </a:lnSpc>
              <a:buNone/>
            </a:pPr>
            <a:r>
              <a:rPr lang="en-US" sz="21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하여 작업 완료 시간을 단축한다.</a:t>
            </a:r>
            <a:endParaRPr lang="en-US" sz="2100" dirty="0"/>
          </a:p>
        </p:txBody>
      </p:sp>
      <p:sp>
        <p:nvSpPr>
          <p:cNvPr id="12" name="Text 6"/>
          <p:cNvSpPr txBox="1"/>
          <p:nvPr/>
        </p:nvSpPr>
        <p:spPr>
          <a:xfrm>
            <a:off x="1333195" y="3715207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1333195" y="4019702"/>
            <a:ext cx="4572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</a:t>
            </a:r>
            <a:pPr algn="l" indent="0" marL="0">
              <a:buNone/>
            </a:pPr>
            <a:r>
              <a:rPr lang="en-US" sz="24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 지점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4821631"/>
            <a:ext cx="4572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A 30 · Type B 20 · Type C 10</a:t>
            </a:r>
            <a:pPr algn="l" indent="0" marL="0">
              <a:lnSpc>
                <a:spcPts val="2558"/>
              </a:lnSpc>
              <a:buNone/>
            </a:pPr>
            <a:endParaRPr lang="en-US" sz="160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</a:t>
            </a:r>
            <a:pPr algn="l" indent="0" marL="0">
              <a:lnSpc>
                <a:spcPts val="2558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8,858 박스/일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858000" y="3715207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 병목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858000" y="4038905"/>
            <a:ext cx="4572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</a:t>
            </a:r>
            <a:pPr algn="l" indent="0" marL="0">
              <a:buNone/>
            </a:pPr>
            <a:r>
              <a:rPr lang="en-US" sz="24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%</a:t>
            </a:r>
            <a:endParaRPr lang="en-US" sz="54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0" y="4839919"/>
            <a:ext cx="4572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5시간 내 처리 완료 박스</a:t>
            </a:r>
            <a:pPr algn="l" indent="0" marL="0">
              <a:lnSpc>
                <a:spcPts val="2558"/>
              </a:lnSpc>
              <a:buNone/>
            </a:pPr>
            <a:endParaRPr lang="en-US" sz="160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/ 8,858 박스</a:t>
            </a:r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(8 팔레트)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382805" y="3715207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 성과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2382805" y="4038905"/>
            <a:ext cx="52084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+162 % 처리량</a:t>
            </a:r>
          </a:p>
        </p:txBody>
      </p:sp>
      <p:sp>
        <p:nvSpPr>
          <p:cNvPr id="20" name="Text 14"/>
          <p:cNvSpPr txBox="1"/>
          <p:nvPr/>
        </p:nvSpPr>
        <p:spPr>
          <a:xfrm>
            <a:off x="12382805" y="4839919"/>
            <a:ext cx="4572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1.6 → 4.2 팔레트/hr · AGV 40→25대</a:t>
            </a:r>
          </a:p>
          <a:p>
            <a:r>
              <a:t>Zero-Cost 로직 개선만으로</a:t>
            </a:r>
          </a:p>
        </p:txBody>
      </p:sp>
      <p:sp>
        <p:nvSpPr>
          <p:cNvPr id="21" name="Text 15"/>
          <p:cNvSpPr txBox="1"/>
          <p:nvPr/>
        </p:nvSpPr>
        <p:spPr>
          <a:xfrm>
            <a:off x="1429207" y="6953098"/>
            <a:ext cx="1543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연구의 목표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429207" y="7338974"/>
            <a:ext cx="15430500" cy="1528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AnyLogic PLE 시뮬레이션으로 AS-IS 병목 원인을 </a:t>
            </a:r>
            <a:pPr algn="l" indent="0" marL="0">
              <a:lnSpc>
                <a:spcPts val="3825"/>
              </a:lnSpc>
              <a:buNone/>
            </a:pPr>
            <a:r>
              <a:rPr lang="en-US" sz="22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분석</a:t>
            </a:r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한다.</a:t>
            </a:r>
            <a:pPr algn="l" indent="0" marL="0">
              <a:lnSpc>
                <a:spcPts val="3825"/>
              </a:lnSpc>
              <a:buNone/>
            </a:pPr>
            <a:endParaRPr lang="en-US" sz="2200" dirty="0"/>
          </a:p>
          <a:p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제함기 부하 분산 · AGV 운영 최적화 · 파렛타이저 슬롯 동적 배정의 </a:t>
            </a:r>
            <a:pPr algn="l" indent="0" marL="0">
              <a:lnSpc>
                <a:spcPts val="3825"/>
              </a:lnSpc>
              <a:buNone/>
            </a:pPr>
            <a:r>
              <a:rPr lang="en-US" sz="22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개선안</a:t>
            </a:r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설계·검증한다.</a:t>
            </a:r>
            <a:pPr algn="l" indent="0" marL="0">
              <a:lnSpc>
                <a:spcPts val="3825"/>
              </a:lnSpc>
              <a:buNone/>
            </a:pPr>
            <a:endParaRPr lang="en-US" sz="2200" dirty="0"/>
          </a:p>
          <a:p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추가 설비 투자 없이 </a:t>
            </a:r>
            <a:pPr algn="l" indent="0" marL="0">
              <a:lnSpc>
                <a:spcPts val="3825"/>
              </a:lnSpc>
              <a:buNone/>
            </a:pPr>
            <a:r>
              <a:rPr lang="en-US" sz="22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완료 시간을 단축</a:t>
            </a:r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하고 시간당 처리량을 극대화한다.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805" y="2000707"/>
            <a:ext cx="3657600" cy="194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143500" y="2000707"/>
            <a:ext cx="3657600" cy="194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34195" y="2000707"/>
            <a:ext cx="3657600" cy="194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3525805" y="2000707"/>
            <a:ext cx="3810305" cy="1904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gen-dedup-3500da159ab7c7092942eb66c133bb95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952805" y="5048402"/>
            <a:ext cx="8058607" cy="2095805"/>
          </a:xfrm>
          <a:prstGeom prst="rect">
            <a:avLst/>
          </a:prstGeom>
        </p:spPr>
      </p:pic>
      <p:pic>
        <p:nvPicPr>
          <p:cNvPr id="8" name="Image 1" descr="gen-dedup-dc50977e1c78645289679a5ba81d684a.png">    </p:cNvPr>
          <p:cNvPicPr>
            <a:picLocks noChangeAspect="1"/>
          </p:cNvPicPr>
          <p:nvPr/>
        </p:nvPicPr>
        <p:blipFill>
          <a:blip r:embed="rId2"/>
          <a:srcRect l="0" r="0" t="-4" b="-4"/>
          <a:stretch/>
        </p:blipFill>
        <p:spPr>
          <a:xfrm>
            <a:off x="9334195" y="5048402"/>
            <a:ext cx="8058607" cy="20958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52805" y="7524598"/>
            <a:ext cx="16383305" cy="17145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72000" y="2876702"/>
            <a:ext cx="571500" cy="152705"/>
          </a:xfrm>
          <a:custGeom>
            <a:avLst/>
            <a:gdLst/>
            <a:ahLst/>
            <a:cxnLst/>
            <a:rect l="l" t="t" r="r" b="b"/>
            <a:pathLst>
              <a:path w="571500" h="152705">
                <a:moveTo>
                  <a:pt x="0" y="38176"/>
                </a:moveTo>
                <a:lnTo>
                  <a:pt x="400050" y="38176"/>
                </a:lnTo>
                <a:lnTo>
                  <a:pt x="400050" y="0"/>
                </a:lnTo>
                <a:lnTo>
                  <a:pt x="571500" y="76352"/>
                </a:lnTo>
                <a:lnTo>
                  <a:pt x="400050" y="152705"/>
                </a:lnTo>
                <a:lnTo>
                  <a:pt x="400050" y="114529"/>
                </a:lnTo>
                <a:lnTo>
                  <a:pt x="0" y="114529"/>
                </a:lnTo>
                <a:close/>
              </a:path>
            </a:pathLst>
          </a:custGeom>
          <a:solidFill>
            <a:srgbClr val="F0A500"/>
          </a:solidFill>
          <a:ln/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8762695" y="2876702"/>
            <a:ext cx="571500" cy="152705"/>
          </a:xfrm>
          <a:custGeom>
            <a:avLst/>
            <a:gdLst/>
            <a:ahLst/>
            <a:cxnLst/>
            <a:rect l="l" t="t" r="r" b="b"/>
            <a:pathLst>
              <a:path w="571500" h="152705">
                <a:moveTo>
                  <a:pt x="0" y="38176"/>
                </a:moveTo>
                <a:lnTo>
                  <a:pt x="400050" y="38176"/>
                </a:lnTo>
                <a:lnTo>
                  <a:pt x="400050" y="0"/>
                </a:lnTo>
                <a:lnTo>
                  <a:pt x="571500" y="76352"/>
                </a:lnTo>
                <a:lnTo>
                  <a:pt x="400050" y="152705"/>
                </a:lnTo>
                <a:lnTo>
                  <a:pt x="400050" y="114529"/>
                </a:lnTo>
                <a:lnTo>
                  <a:pt x="0" y="114529"/>
                </a:lnTo>
                <a:close/>
              </a:path>
            </a:pathLst>
          </a:custGeom>
          <a:solidFill>
            <a:srgbClr val="F0A500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12954305" y="2876702"/>
            <a:ext cx="571500" cy="152705"/>
          </a:xfrm>
          <a:custGeom>
            <a:avLst/>
            <a:gdLst/>
            <a:ahLst/>
            <a:cxnLst/>
            <a:rect l="l" t="t" r="r" b="b"/>
            <a:pathLst>
              <a:path w="571500" h="152705">
                <a:moveTo>
                  <a:pt x="0" y="38176"/>
                </a:moveTo>
                <a:lnTo>
                  <a:pt x="400050" y="38176"/>
                </a:lnTo>
                <a:lnTo>
                  <a:pt x="400050" y="0"/>
                </a:lnTo>
                <a:lnTo>
                  <a:pt x="571500" y="76352"/>
                </a:lnTo>
                <a:lnTo>
                  <a:pt x="400050" y="152705"/>
                </a:lnTo>
                <a:lnTo>
                  <a:pt x="400050" y="114529"/>
                </a:lnTo>
                <a:lnTo>
                  <a:pt x="0" y="114529"/>
                </a:lnTo>
                <a:close/>
              </a:path>
            </a:pathLst>
          </a:custGeom>
          <a:solidFill>
            <a:srgbClr val="F0A500"/>
          </a:solidFill>
          <a:ln/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시스템 및 프로세스 개요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물류 흐름 — 제함 → 피킹 → 봉함 → 팔레타이징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429207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· 4 STAGES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238098" y="2190902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01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238098" y="2428646"/>
            <a:ext cx="3048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 Box Making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238098" y="2962656"/>
            <a:ext cx="3048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box/min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(2초/box)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190902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02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29707" y="2428646"/>
            <a:ext cx="3048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피킹 Picking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5429707" y="2962656"/>
            <a:ext cx="3048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S/A: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40대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(1.5m/s)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B/C: 컨베이어 0.5m/s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9620402" y="2190902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620402" y="2428646"/>
            <a:ext cx="3048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봉함 Sealing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620402" y="2991002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봉함기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</a:t>
            </a:r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box/min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3811098" y="2190902"/>
            <a:ext cx="323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3811098" y="2428646"/>
            <a:ext cx="32388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팔레타이징</a:t>
            </a:r>
            <a:endParaRPr lang="en-US" sz="2500" dirty="0"/>
          </a:p>
        </p:txBody>
      </p:sp>
      <p:sp>
        <p:nvSpPr>
          <p:cNvPr id="28" name="Text 23"/>
          <p:cNvSpPr txBox="1"/>
          <p:nvPr/>
        </p:nvSpPr>
        <p:spPr>
          <a:xfrm>
            <a:off x="13811098" y="2962656"/>
            <a:ext cx="323880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파렛타이저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× 2슬롯 = 4슬롯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box/min · 팔레트당 최대 32박스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2805" y="4476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등급별 경로 분기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1333195" y="528614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S/A 포함: 이론 75% · 실제 DB 91.7%</a:t>
            </a:r>
          </a:p>
        </p:txBody>
      </p:sp>
      <p:sp>
        <p:nvSpPr>
          <p:cNvPr id="31" name="Text 26"/>
          <p:cNvSpPr txBox="1"/>
          <p:nvPr/>
        </p:nvSpPr>
        <p:spPr>
          <a:xfrm>
            <a:off x="1333195" y="5725058"/>
            <a:ext cx="7239305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1 또는 2에서 생성 →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S/A급 스테이션(S 3개 + A 7개)으로 운반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S/A 피킹 완료 후 박스 투입구3을 통해 B/C 라인과 합류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포함 확률: S 50% · A 50% (독립 사건) → P(S∪A) = 1 − 0.5×0.5 =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0.75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9715500" y="528614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B/C 전용: 이론 25% · 실제 DB 8.3%</a:t>
            </a:r>
          </a:p>
        </p:txBody>
      </p:sp>
      <p:sp>
        <p:nvSpPr>
          <p:cNvPr id="33" name="Text 28"/>
          <p:cNvSpPr txBox="1"/>
          <p:nvPr/>
        </p:nvSpPr>
        <p:spPr>
          <a:xfrm>
            <a:off x="9715500" y="5725058"/>
            <a:ext cx="7239305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 →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컨베이어벨트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B/C급 스테이션 이동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B급 스테이션 4개 + C급 거대 존(선반 4동 = 논리적 1 스테이션)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포함 확률: B 30% · C 5%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715707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설비 제원 (문제 스펙)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066837"/>
            <a:ext cx="15621610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이동 속도 최대 1.5 m/s (가감속 1 m/s²) · 적재/하역 각 5초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컨베이어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0.5 m/s 정속 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봉함기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25 box/min 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파렛타이저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15 box/min (2개 지점 동시 적재, 팔레트당 최대 32박스)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805" y="1524305"/>
            <a:ext cx="16383305" cy="20958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238805" y="4524451"/>
            <a:ext cx="12382805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38805" y="5191049"/>
            <a:ext cx="12382805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38805" y="5857646"/>
            <a:ext cx="12382805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gen-dedup-809cc88aa64e0cfb0b6be5dae97d77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38805" y="4524451"/>
            <a:ext cx="12382805" cy="418795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1" descr="gen-dedup-4a52bb393f81e3c8f05db7649b518268.png">    </p:cNvPr>
          <p:cNvPicPr>
            <a:picLocks noChangeAspect="1"/>
          </p:cNvPicPr>
          <p:nvPr/>
        </p:nvPicPr>
        <p:blipFill>
          <a:blip r:embed="rId2"/>
          <a:srcRect l="-437" r="-437" t="0" b="0"/>
          <a:stretch/>
        </p:blipFill>
        <p:spPr>
          <a:xfrm>
            <a:off x="3238805" y="5191049"/>
            <a:ext cx="57607" cy="418795"/>
          </a:xfrm>
          <a:prstGeom prst="rect">
            <a:avLst/>
          </a:prstGeom>
        </p:spPr>
      </p:pic>
      <p:pic>
        <p:nvPicPr>
          <p:cNvPr id="10" name="Image 2" descr="gen-dedup-4a52bb393f81e3c8f05db7649b518268.png">    </p:cNvPr>
          <p:cNvPicPr>
            <a:picLocks noChangeAspect="1"/>
          </p:cNvPicPr>
          <p:nvPr/>
        </p:nvPicPr>
        <p:blipFill>
          <a:blip r:embed="rId3"/>
          <a:srcRect l="-437" r="-437" t="0" b="0"/>
          <a:stretch/>
        </p:blipFill>
        <p:spPr>
          <a:xfrm>
            <a:off x="3238805" y="5857646"/>
            <a:ext cx="57607" cy="4187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AS-IS 병목 진단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줄의 라우팅 조건이 처리량 전체를 결박한다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1333195" y="1809598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ROOT CAUSE · AnyLogic selectOutput 조건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33195" y="2229307"/>
            <a:ext cx="15621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0A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(agent.sSkuCnt &gt; 0 || agent.aSkuCnt &gt; 0) → </a:t>
            </a:r>
            <a:pPr algn="l" indent="0" marL="0">
              <a:buNone/>
            </a:pPr>
            <a:r>
              <a:rPr lang="en-US" sz="2500" dirty="0">
                <a:solidFill>
                  <a:srgbClr val="F0A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제함기1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333195" y="2771546"/>
            <a:ext cx="1562161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S/A 포함 박스: 이론 75% · 실제 DB 91.7%가 제함기1로 몰림 · 제함기2는 S와 A가 동시에 없는 25% 조건에서만 후보</a:t>
            </a:r>
          </a:p>
          <a:p>
            <a:r>
              <a:t>→ B/C 전용은 제함기3이 처리 → 실질적으로 제함기2는 미가동(0%)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952805" y="4000500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실측 (AS-IS, 5시간 기준)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4524451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1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811805" y="4552798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100%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5191049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2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5811805" y="5219395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0%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952805" y="5857646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3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5811805" y="5886907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0%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52805" y="6762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병목의 연쇄 (표3, 5)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7239305"/>
          <a:ext cx="16383305" cy="2457907"/>
        </p:xfrm>
        <a:graphic>
          <a:graphicData uri="http://schemas.openxmlformats.org/drawingml/2006/table">
            <a:tbl>
              <a:tblPr/>
              <a:tblGrid>
                <a:gridCol w="3931920"/>
                <a:gridCol w="6225235"/>
                <a:gridCol w="6225235"/>
              </a:tblGrid>
              <a:tr h="6144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병목 지점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 · 5시간 실적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제함기 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S/A 박스 91.7% (DB) · 이론 75% 단독 처리 (라우팅 편중)</a:t>
                      </a: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대기, 처리량 급감 → 완료 </a:t>
                      </a:r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8팔레트 · 256박스 (2.9%)</a:t>
                      </a:r>
                      <a:endParaRPr lang="en-US" sz="1200" dirty="0"/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배차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40대 운영이나 우선순위 조건 없음 → 먼 AGV까지 동등 배차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불필요한 공주행 증가 · 평균 가동률 약 </a:t>
                      </a:r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23%</a:t>
                      </a:r>
                      <a:endParaRPr lang="en-US" sz="1200" dirty="0"/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파렛타이저 슬롯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정적 슬롯 배정 → 대량 주문 지점이 슬롯 장기 점유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유휴 슬롯 발생 · 처리량 손실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984653ab59202b4fde0b6a1ecc748744.png">    </p:cNvPr>
          <p:cNvPicPr>
            <a:picLocks noChangeAspect="1"/>
          </p:cNvPicPr>
          <p:nvPr/>
        </p:nvPicPr>
        <p:blipFill>
          <a:blip r:embed="rId1"/>
          <a:srcRect l="0" r="0" t="-13" b="-13"/>
          <a:stretch/>
        </p:blipFill>
        <p:spPr>
          <a:xfrm>
            <a:off x="9905695" y="2095805"/>
            <a:ext cx="7487107" cy="1429207"/>
          </a:xfrm>
          <a:prstGeom prst="rect">
            <a:avLst/>
          </a:prstGeom>
        </p:spPr>
      </p:pic>
      <p:pic>
        <p:nvPicPr>
          <p:cNvPr id="4" name="Image 1" descr="gen-dedup-60251b004b70bbcd9f6d1f38971c9b97.png">    </p:cNvPr>
          <p:cNvPicPr>
            <a:picLocks noChangeAspect="1"/>
          </p:cNvPicPr>
          <p:nvPr/>
        </p:nvPicPr>
        <p:blipFill>
          <a:blip r:embed="rId2"/>
          <a:srcRect l="0" r="0" t="-13" b="-13"/>
          <a:stretch/>
        </p:blipFill>
        <p:spPr>
          <a:xfrm>
            <a:off x="9905695" y="3715207"/>
            <a:ext cx="7487107" cy="1429207"/>
          </a:xfrm>
          <a:prstGeom prst="rect">
            <a:avLst/>
          </a:prstGeom>
        </p:spPr>
      </p:pic>
      <p:pic>
        <p:nvPicPr>
          <p:cNvPr id="5" name="Image 2" descr="gen-dedup-1d209343020b3bb38d4e402305c1c99e.png">    </p:cNvPr>
          <p:cNvPicPr>
            <a:picLocks noChangeAspect="1"/>
          </p:cNvPicPr>
          <p:nvPr/>
        </p:nvPicPr>
        <p:blipFill>
          <a:blip r:embed="rId3"/>
          <a:srcRect l="0" r="0" t="-13" b="-13"/>
          <a:stretch/>
        </p:blipFill>
        <p:spPr>
          <a:xfrm>
            <a:off x="9905695" y="5333695"/>
            <a:ext cx="7487107" cy="14292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905695" y="7144207"/>
            <a:ext cx="7487107" cy="219090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9905695" y="7144207"/>
            <a:ext cx="57607" cy="219090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모델링 범위 및 주요 가정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입력, 동일한 제약 — 두 모델을 공정하게 비교한다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1619402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 설정 (표 4)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095805"/>
          <a:ext cx="8572500" cy="3086100"/>
        </p:xfrm>
        <a:graphic>
          <a:graphicData uri="http://schemas.openxmlformats.org/drawingml/2006/table">
            <a:tbl>
              <a:tblPr/>
              <a:tblGrid>
                <a:gridCol w="3771900"/>
                <a:gridCol w="480060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시뮬레이션 엔진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AnyLogic PLE 8.9.8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시뮬레이션 시간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18,000초 (5시간)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· PLE 상한</a:t>
                      </a:r>
                      <a:endParaRPr lang="en-US" sz="1200" dirty="0"/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주문 박스 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8,858 박스 · 60개 지점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AS-IS AGV 대수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 대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 데이터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database/db.script (SHEET1) (동일 입력)</a:t>
                      </a: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952805" y="5715000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지점 유형별 주문 규모 (표 2)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191402"/>
          <a:ext cx="8572500" cy="2886761"/>
        </p:xfrm>
        <a:graphic>
          <a:graphicData uri="http://schemas.openxmlformats.org/drawingml/2006/table">
            <a:tbl>
              <a:tblPr/>
              <a:tblGrid>
                <a:gridCol w="2201875"/>
                <a:gridCol w="1494130"/>
                <a:gridCol w="2371039"/>
                <a:gridCol w="2505456"/>
              </a:tblGrid>
              <a:tr h="577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유형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지점 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지점당 박스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분포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A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대형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180 ~ 200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균등 (Uniform)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B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중형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 ~ 150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균등 (Uniform)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C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소형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~ 80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균등 (Uniform)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8,858 박스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15" name="Text 7"/>
          <p:cNvSpPr txBox="1"/>
          <p:nvPr/>
        </p:nvSpPr>
        <p:spPr>
          <a:xfrm>
            <a:off x="9905695" y="1619402"/>
            <a:ext cx="7429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지표 정의 (표 7)</a:t>
            </a:r>
            <a:endParaRPr lang="en-US" sz="1600" dirty="0"/>
          </a:p>
        </p:txBody>
      </p:sp>
      <p:sp>
        <p:nvSpPr>
          <p:cNvPr id="16" name="Text 8"/>
          <p:cNvSpPr txBox="1"/>
          <p:nvPr/>
        </p:nvSpPr>
        <p:spPr>
          <a:xfrm>
            <a:off x="10287000" y="2286000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최우선 지표</a:t>
            </a:r>
            <a:endParaRPr lang="en-US" sz="1200" dirty="0"/>
          </a:p>
        </p:txBody>
      </p:sp>
      <p:sp>
        <p:nvSpPr>
          <p:cNvPr id="17" name="Text 9"/>
          <p:cNvSpPr txBox="1"/>
          <p:nvPr/>
        </p:nvSpPr>
        <p:spPr>
          <a:xfrm>
            <a:off x="10287000" y="2572207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완료 시간</a:t>
            </a:r>
            <a:endParaRPr lang="en-US" sz="1900" dirty="0"/>
          </a:p>
        </p:txBody>
      </p:sp>
      <p:sp>
        <p:nvSpPr>
          <p:cNvPr id="18" name="Text 10"/>
          <p:cNvSpPr txBox="1"/>
          <p:nvPr/>
        </p:nvSpPr>
        <p:spPr>
          <a:xfrm>
            <a:off x="10287000" y="3000146"/>
            <a:ext cx="6667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박스 제함 시작 ~ 마지막 박스 파렛타이징 완료까지의 총 소요 시간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0287000" y="3905402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우선순위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10287000" y="4190695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시간당 처리량 (박스 / Qty)</a:t>
            </a:r>
            <a:endParaRPr lang="en-US" sz="1900" dirty="0"/>
          </a:p>
        </p:txBody>
      </p:sp>
      <p:sp>
        <p:nvSpPr>
          <p:cNvPr id="21" name="Text 13"/>
          <p:cNvSpPr txBox="1"/>
          <p:nvPr/>
        </p:nvSpPr>
        <p:spPr>
          <a:xfrm>
            <a:off x="10287000" y="4619549"/>
            <a:ext cx="6667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처리 박스 수 · 총 처리 SKU 수량 ÷ 작업 완료 시간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0287000" y="5524805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지표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10287000" y="5810098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가동률 · 슬롯 점유 효율</a:t>
            </a:r>
            <a:endParaRPr lang="en-US" sz="1900" dirty="0"/>
          </a:p>
        </p:txBody>
      </p:sp>
      <p:sp>
        <p:nvSpPr>
          <p:cNvPr id="24" name="Text 16"/>
          <p:cNvSpPr txBox="1"/>
          <p:nvPr/>
        </p:nvSpPr>
        <p:spPr>
          <a:xfrm>
            <a:off x="10287000" y="6238951"/>
            <a:ext cx="6667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이동+작업 시간 비율 · 슬롯 점유시간 합 ÷ (4슬롯 × 전체 시간)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0287000" y="7381951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모델링 주요 가정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0287000" y="7724851"/>
            <a:ext cx="6667805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· S 50% · A 50% · B 30% · C 5% 독립 사건</a:t>
            </a:r>
          </a:p>
          <a:p>
            <a:r>
              <a:t>· 이론 P(S∪A)=0.75 · 실제 DB S/A 91.7%</a:t>
            </a:r>
          </a:p>
          <a:p>
            <a:r>
              <a:t>· 5시간 초과 처리량은 PLE 제한 내 실측 + 추정치를 병기</a:t>
            </a:r>
          </a:p>
          <a:p>
            <a:r>
              <a:t>· 두 모델은 동일 주문 데이터·설비 스펙에서 운영 로직만 변경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6c895c3bd60e25b33809646b32f2eaea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952805" y="2572207"/>
            <a:ext cx="8020202" cy="2686507"/>
          </a:xfrm>
          <a:prstGeom prst="rect">
            <a:avLst/>
          </a:prstGeom>
        </p:spPr>
      </p:pic>
      <p:pic>
        <p:nvPicPr>
          <p:cNvPr id="4" name="Image 1" descr="gen-dedup-6c895c3bd60e25b33809646b32f2eaea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9334195" y="2572207"/>
            <a:ext cx="8020202" cy="268650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095805" y="6191402"/>
            <a:ext cx="11430000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2095805" y="6858000"/>
            <a:ext cx="11430000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952805" y="7810805"/>
            <a:ext cx="16439998" cy="1524305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952805" y="7810805"/>
            <a:ext cx="57607" cy="1524305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095805" y="6191402"/>
            <a:ext cx="11430000" cy="418795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6"/>
          <p:cNvSpPr/>
          <p:nvPr/>
        </p:nvSpPr>
        <p:spPr>
          <a:xfrm>
            <a:off x="2095805" y="6858000"/>
            <a:ext cx="5715000" cy="418795"/>
          </a:xfrm>
          <a:prstGeom prst="rect">
            <a:avLst/>
          </a:prstGeom>
          <a:solidFill>
            <a:srgbClr val="1D4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7810805" y="6858000"/>
            <a:ext cx="5715000" cy="418795"/>
          </a:xfrm>
          <a:prstGeom prst="rect">
            <a:avLst/>
          </a:prstGeom>
          <a:solidFill>
            <a:srgbClr val="2E6F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개선 전략 ① 제함기 동적 부하 분산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대기열이 짧은 제함기를 실시간으로 선택한다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952805" y="1524305"/>
            <a:ext cx="163833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AS-IS의 라우팅은 S/A 판정 이후 </a:t>
            </a:r>
            <a:pPr algn="l" indent="0" marL="0">
              <a:buNone/>
            </a:pPr>
            <a:r>
              <a:rPr lang="en-US" sz="19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제함기1로 분기</a:t>
            </a:r>
            <a:pPr algn="l" indent="0" marL="0">
              <a:buNone/>
            </a:pPr>
            <a:r>
              <a:rPr lang="en-US" sz="19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했다. TO-BE는 두 번째 selectOutput 블록에 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대기열 비교 조건</a:t>
            </a:r>
            <a:pPr algn="l" indent="0" marL="0">
              <a:buNone/>
            </a:pPr>
            <a:r>
              <a:rPr lang="en-US" sz="19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추가해 S/A 박스를 두 제함기에 동적으로 분산한다.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1333195" y="2809951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333195" y="307695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없음 → 항상 제함기1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1333195" y="3619195"/>
            <a:ext cx="7239305" cy="100949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333195" y="3619195"/>
            <a:ext cx="38405" cy="100949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1561795" y="3588106"/>
            <a:ext cx="7010705" cy="1041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90500" rIns="190500" bIns="19050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selectOutput1 : (조건 없음)</a:t>
            </a:r>
            <a:pPr algn="l" indent="0" marL="0">
              <a:lnSpc>
                <a:spcPts val="2475"/>
              </a:lnSpc>
              <a:buNone/>
            </a:pPr>
            <a:endParaRPr lang="en-US" sz="16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제함기1 방향으로 고정 분기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4781398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S/A 박스 8,120개 (91.7%, DB 실측)가 제함기1에 집중</a:t>
            </a:r>
          </a:p>
        </p:txBody>
      </p:sp>
      <p:sp>
        <p:nvSpPr>
          <p:cNvPr id="22" name="Text 17"/>
          <p:cNvSpPr txBox="1"/>
          <p:nvPr/>
        </p:nvSpPr>
        <p:spPr>
          <a:xfrm>
            <a:off x="9715500" y="2809951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9715500" y="307695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대기열이 짧은 쪽을 동적 선택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9715500" y="3619195"/>
            <a:ext cx="7239305" cy="1009498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9715500" y="3619195"/>
            <a:ext cx="38405" cy="1009498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 txBox="1"/>
          <p:nvPr/>
        </p:nvSpPr>
        <p:spPr>
          <a:xfrm>
            <a:off x="9944100" y="3588106"/>
            <a:ext cx="7010705" cy="1041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90500" rIns="190500" bIns="19050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</a:t>
            </a:r>
            <a:pPr algn="l" indent="0" marL="0">
              <a:lnSpc>
                <a:spcPts val="2475"/>
              </a:lnSpc>
              <a:buNone/>
            </a:pPr>
            <a:endParaRPr lang="en-US" sz="16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&lt;= delay_Erector2.size()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4781398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 → 제함기1 · False → 제함기2 (Load Balancing)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52805" y="5619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이론적 부하 분산 효과 · S/A 박스 8,120개 (91.7%)</a:t>
            </a:r>
          </a:p>
        </p:txBody>
      </p:sp>
      <p:sp>
        <p:nvSpPr>
          <p:cNvPr id="29" name="Text 24"/>
          <p:cNvSpPr txBox="1"/>
          <p:nvPr/>
        </p:nvSpPr>
        <p:spPr>
          <a:xfrm>
            <a:off x="952805" y="6191402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13716000" y="6219749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제함기1 75% · 제함기2 0%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952805" y="6858000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13716000" y="6886346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37.5% · 37.5% 균등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8096098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421624"/>
            <a:ext cx="15621610" cy="7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제함기 1대 기준 처리 시간 </a:t>
            </a:r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절반 감소</a:t>
            </a:r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AGV 공급 속도 </a:t>
            </a:r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2배</a:t>
            </a:r>
            <a:pPr algn="l" indent="0" marL="0">
              <a:lnSpc>
                <a:spcPts val="2880"/>
              </a:lnSpc>
              <a:buNone/>
            </a:pPr>
            <a:endParaRPr lang="en-US" sz="1800" dirty="0"/>
          </a:p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하류 공정(피킹 → 봉함 → 팔레타이징) 전반 처리량 증가 · </a:t>
            </a:r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조건 1줄만 추가하는 Zero-Cost 개선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5bfe797c841ac0a050bbda3558420a5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1524305"/>
            <a:ext cx="8001000" cy="3771900"/>
          </a:xfrm>
          <a:prstGeom prst="rect">
            <a:avLst/>
          </a:prstGeom>
        </p:spPr>
      </p:pic>
      <p:pic>
        <p:nvPicPr>
          <p:cNvPr id="4" name="Image 1" descr="gen-dedup-5bfe797c841ac0a050bbda3558420a5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4195" y="1524305"/>
            <a:ext cx="8001000" cy="37719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52805" y="6191402"/>
            <a:ext cx="8001000" cy="323880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9334195" y="6191402"/>
            <a:ext cx="8001000" cy="32388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개선 전략 ② AGV 최적 운영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대수를 줄이고, 가장 가까운 AGV를 우선 배차한다</a:t>
            </a:r>
            <a:endParaRPr lang="en-US" sz="2800" dirty="0"/>
          </a:p>
        </p:txBody>
      </p:sp>
      <p:sp>
        <p:nvSpPr>
          <p:cNvPr id="10" name="Text 5"/>
          <p:cNvSpPr txBox="1"/>
          <p:nvPr/>
        </p:nvSpPr>
        <p:spPr>
          <a:xfrm>
            <a:off x="1333195" y="1714500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SUB-STRATEGY A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333195" y="2000707"/>
            <a:ext cx="7239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운영 대수 최적화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1333195" y="2476195"/>
            <a:ext cx="121889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7200" dirty="0"/>
          </a:p>
        </p:txBody>
      </p:sp>
      <p:sp>
        <p:nvSpPr>
          <p:cNvPr id="13" name="Text 8"/>
          <p:cNvSpPr txBox="1"/>
          <p:nvPr/>
        </p:nvSpPr>
        <p:spPr>
          <a:xfrm>
            <a:off x="2690165" y="2924251"/>
            <a:ext cx="467258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4200" dirty="0"/>
          </a:p>
        </p:txBody>
      </p:sp>
      <p:sp>
        <p:nvSpPr>
          <p:cNvPr id="14" name="Text 9"/>
          <p:cNvSpPr txBox="1"/>
          <p:nvPr/>
        </p:nvSpPr>
        <p:spPr>
          <a:xfrm>
            <a:off x="3455518" y="2476195"/>
            <a:ext cx="2243023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pPr algn="l" indent="0" marL="0">
              <a:buNone/>
            </a:pPr>
            <a:r>
              <a:rPr lang="en-US" sz="24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</a:t>
            </a:r>
            <a:endParaRPr lang="en-US" sz="7200" dirty="0"/>
          </a:p>
        </p:txBody>
      </p:sp>
      <p:sp>
        <p:nvSpPr>
          <p:cNvPr id="15" name="Text 10"/>
          <p:cNvSpPr txBox="1"/>
          <p:nvPr/>
        </p:nvSpPr>
        <p:spPr>
          <a:xfrm>
            <a:off x="1333195" y="3866998"/>
            <a:ext cx="7239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S/A급 스테이션(S 3개 + A 7개, 총 10개)과 이동 경로를 고려할 때,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25대는 동선 충돌을 최소화하면서 충분한 처리 용량을 제공하는 최적 대수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다.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과다 시 → 동선 충돌 · 교통 혼잡 증가 · 처리량 감소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715500" y="1714500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SUB-STRATEGY B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9715500" y="2000707"/>
            <a:ext cx="7239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최근접 AGV 우선 배차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9715500" y="2476195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MoveByTransporter · TransporterRating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9715500" y="2819095"/>
            <a:ext cx="7239305" cy="819302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215900" rIns="228600" bIns="215900" rtlCol="0" anchor="ctr"/>
          <a:lstStyle/>
          <a:p>
            <a:r>
              <a:t>−unit.distanceTo(agent)</a:t>
            </a:r>
          </a:p>
        </p:txBody>
      </p:sp>
      <p:sp>
        <p:nvSpPr>
          <p:cNvPr id="20" name="Text 15"/>
          <p:cNvSpPr txBox="1"/>
          <p:nvPr/>
        </p:nvSpPr>
        <p:spPr>
          <a:xfrm>
            <a:off x="9715500" y="3866998"/>
            <a:ext cx="7239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음수 부호 → 거리가 작을수록 Rating 값이 높음 → 가장 가까운 AGV 선택</a:t>
            </a:r>
          </a:p>
          <a:p>
            <a:r>
              <a:t>제함기1·2 박스 수령 2개 블록 + S/A 피킹 후 박스 투입구 이동 1개 블록, MoveByTransporter 5개 블록 (핵심 3 + B/C 2)</a:t>
            </a:r>
          </a:p>
        </p:txBody>
      </p:sp>
      <p:sp>
        <p:nvSpPr>
          <p:cNvPr id="21" name="Text 16"/>
          <p:cNvSpPr txBox="1"/>
          <p:nvPr/>
        </p:nvSpPr>
        <p:spPr>
          <a:xfrm>
            <a:off x="952805" y="5619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효과 (5시간 시뮬레이션 실측)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333195" y="6381598"/>
            <a:ext cx="7239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평균 가동률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333195" y="6829654"/>
            <a:ext cx="7239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 · 40대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333195" y="7162495"/>
            <a:ext cx="7239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23</a:t>
            </a:r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500" dirty="0"/>
          </a:p>
        </p:txBody>
      </p:sp>
      <p:sp>
        <p:nvSpPr>
          <p:cNvPr id="25" name="Text 20"/>
          <p:cNvSpPr txBox="1"/>
          <p:nvPr/>
        </p:nvSpPr>
        <p:spPr>
          <a:xfrm>
            <a:off x="1333195" y="7962595"/>
            <a:ext cx="7239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 · 25대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333195" y="8296351"/>
            <a:ext cx="7239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약 50%</a:t>
            </a:r>
          </a:p>
        </p:txBody>
      </p:sp>
      <p:sp>
        <p:nvSpPr>
          <p:cNvPr id="27" name="Text 22"/>
          <p:cNvSpPr txBox="1"/>
          <p:nvPr/>
        </p:nvSpPr>
        <p:spPr>
          <a:xfrm>
            <a:off x="9715500" y="6476695"/>
            <a:ext cx="7239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 요약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715500" y="6905549"/>
            <a:ext cx="7239305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공주행 감소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최근접 배차로 AGV 평균 이동 거리 단축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 수 증가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단위 시간당 처리 사이클 상승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혼잡 완화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대수 25로 조정 → 동선 충돌 대기 감소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운영비 절감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유지보수·충전 15대분 절감 여력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cd4fe03cf5f672cf86ee373a4eed7fd4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52805" y="1524305"/>
            <a:ext cx="8001000" cy="3105302"/>
          </a:xfrm>
          <a:prstGeom prst="rect">
            <a:avLst/>
          </a:prstGeom>
        </p:spPr>
      </p:pic>
      <p:pic>
        <p:nvPicPr>
          <p:cNvPr id="4" name="Image 1" descr="gen-dedup-56052dfdd72d112fdf0c2c7e8aa55513.png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9334195" y="1524305"/>
            <a:ext cx="8001000" cy="31053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528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49533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89538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29543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52805" y="7524598"/>
            <a:ext cx="16439998" cy="571500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952805" y="7524598"/>
            <a:ext cx="57607" cy="571500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952805" y="8382305"/>
            <a:ext cx="16383305" cy="9528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개선 전략 ③ 파렛타이저 슬롯 동적 배정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박스가 적은 지점을 슬롯에 먼저 태워 회전율을 높인다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1333195" y="1714500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AS-IS (기본 슬롯)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1333195" y="2018995"/>
            <a:ext cx="7239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기본 슬롯 로직(selectOutput6) · TO-BE 동적 배정 강화</a:t>
            </a:r>
          </a:p>
        </p:txBody>
      </p:sp>
      <p:sp>
        <p:nvSpPr>
          <p:cNvPr id="17" name="Text 12"/>
          <p:cNvSpPr txBox="1"/>
          <p:nvPr/>
        </p:nvSpPr>
        <p:spPr>
          <a:xfrm>
            <a:off x="1333195" y="2581351"/>
            <a:ext cx="7239305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파렛타이저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× 2슬롯 = 총 4슬롯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운영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한 슬롯에 지점이 배정되면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지점 전량 처리 완료까지 슬롯 점유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대량 주문 지점이 슬롯을 장기 점유 → 나머지 슬롯의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유휴 시간 증가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지점 투입 순서가 최적화되지 않음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715500" y="1714500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 개선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715500" y="2018995"/>
            <a:ext cx="7239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 기반 동적 배정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9715500" y="2581351"/>
            <a:ext cx="7239305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지점별 잔여 박스 수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branchRemainingTotal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실시간 추적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슬롯 배정 변수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slotBranches[4]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유지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빈 슬롯 발생 시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박스가 가장 적은 미배정 지점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선택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소량 지점(주로 Type C)이 신속 완료 → 슬롯 조기 반환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952805" y="4953305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회전 개념 · 4 slots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2380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1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2380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지점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12380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소량 → 우선 배정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완료 → 슬롯 반환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2385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2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2385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지점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52385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소량 우선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 상승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2390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3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92390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B 지점</a:t>
            </a:r>
            <a:endParaRPr lang="en-US" sz="2100" dirty="0"/>
          </a:p>
        </p:txBody>
      </p:sp>
      <p:sp>
        <p:nvSpPr>
          <p:cNvPr id="30" name="Text 25"/>
          <p:cNvSpPr txBox="1"/>
          <p:nvPr/>
        </p:nvSpPr>
        <p:spPr>
          <a:xfrm>
            <a:off x="92390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규모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 소진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132395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4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32395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A 지점</a:t>
            </a:r>
            <a:endParaRPr lang="en-US" sz="2100" dirty="0"/>
          </a:p>
        </p:txBody>
      </p:sp>
      <p:sp>
        <p:nvSpPr>
          <p:cNvPr id="33" name="Text 28"/>
          <p:cNvSpPr txBox="1"/>
          <p:nvPr/>
        </p:nvSpPr>
        <p:spPr>
          <a:xfrm>
            <a:off x="132395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지점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슬롯과 병렬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667244"/>
            <a:ext cx="1562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 사이클: 빈 슬롯 발생 → </a:t>
            </a:r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argmin(branchRemainingTotal)</a:t>
            </a:r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지점 선택 → 슬롯 배정 → 완료 → 다음 최소 잔여 지점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572500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89619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소량 지점이 빠르게 완료·반환되며, 새로운 지점을 조기 투입하는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 회전율 상승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전체 슬롯 점유 효율 향상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b0a6deb0b1a40092bd676d2cdb2a61ac.png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952805" y="1429207"/>
            <a:ext cx="5333695" cy="2438705"/>
          </a:xfrm>
          <a:prstGeom prst="rect">
            <a:avLst/>
          </a:prstGeom>
        </p:spPr>
      </p:pic>
      <p:pic>
        <p:nvPicPr>
          <p:cNvPr id="4" name="Image 1" descr="gen-dedup-b0a6deb0b1a40092bd676d2cdb2a61ac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6476695" y="1429207"/>
            <a:ext cx="5333695" cy="2438705"/>
          </a:xfrm>
          <a:prstGeom prst="rect">
            <a:avLst/>
          </a:prstGeom>
        </p:spPr>
      </p:pic>
      <p:pic>
        <p:nvPicPr>
          <p:cNvPr id="5" name="Image 2" descr="gen-dedup-b0a6deb0b1a40092bd676d2cdb2a61ac.png">    </p:cNvPr>
          <p:cNvPicPr>
            <a:picLocks noChangeAspect="1"/>
          </p:cNvPicPr>
          <p:nvPr/>
        </p:nvPicPr>
        <p:blipFill>
          <a:blip r:embed="rId3"/>
          <a:srcRect l="0" r="0" t="-9" b="-9"/>
          <a:stretch/>
        </p:blipFill>
        <p:spPr>
          <a:xfrm>
            <a:off x="12001500" y="1429207"/>
            <a:ext cx="5333695" cy="24387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857500" y="4552798"/>
            <a:ext cx="13525805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2857500" y="5124298"/>
            <a:ext cx="13525805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857500" y="4552798"/>
            <a:ext cx="390449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4"/>
          <p:cNvSpPr/>
          <p:nvPr/>
        </p:nvSpPr>
        <p:spPr>
          <a:xfrm>
            <a:off x="2857500" y="5124298"/>
            <a:ext cx="981151" cy="342900"/>
          </a:xfrm>
          <a:prstGeom prst="rect">
            <a:avLst/>
          </a:prstGeom>
          <a:solidFill>
            <a:srgbClr val="1E7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5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08 · AS-IS vs TO-BE 정량 결과</a:t>
            </a:r>
          </a:p>
          <a:p>
            <a:r>
              <a:t>※ KPI 수치(박스·팔레트·가동률)는 안정화 패치 후 18,000초 재시뮬로 최종 확정</a:t>
            </a:r>
          </a:p>
        </p:txBody>
      </p:sp>
      <p:sp>
        <p:nvSpPr>
          <p:cNvPr id="12" name="Text 6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동일 5시간 · 동일 8,858박스 입력에서 처리량 +162%</a:t>
            </a:r>
          </a:p>
        </p:txBody>
      </p:sp>
      <p:sp>
        <p:nvSpPr>
          <p:cNvPr id="13" name="Text 7"/>
          <p:cNvSpPr txBox="1"/>
          <p:nvPr/>
        </p:nvSpPr>
        <p:spPr>
          <a:xfrm>
            <a:off x="1333195" y="16194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팔레트 (5hr)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1943100"/>
            <a:ext cx="457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8→21 팔레트</a:t>
            </a:r>
          </a:p>
        </p:txBody>
      </p:sp>
      <p:sp>
        <p:nvSpPr>
          <p:cNvPr id="15" name="Text 9"/>
          <p:cNvSpPr txBox="1"/>
          <p:nvPr/>
        </p:nvSpPr>
        <p:spPr>
          <a:xfrm>
            <a:off x="1333195" y="3390595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256 박스 → 672 박스 (+416박스)</a:t>
            </a:r>
          </a:p>
        </p:txBody>
      </p:sp>
      <p:sp>
        <p:nvSpPr>
          <p:cNvPr id="16" name="Shape 10"/>
          <p:cNvSpPr/>
          <p:nvPr/>
        </p:nvSpPr>
        <p:spPr>
          <a:xfrm>
            <a:off x="1333195" y="2876702"/>
            <a:ext cx="1200607" cy="400507"/>
          </a:xfrm>
          <a:prstGeom prst="roundRect">
            <a:avLst>
              <a:gd name="adj" fmla="val 4795"/>
            </a:avLst>
          </a:prstGeom>
          <a:solidFill>
            <a:srgbClr val="EA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1"/>
          <p:cNvSpPr txBox="1"/>
          <p:nvPr/>
        </p:nvSpPr>
        <p:spPr>
          <a:xfrm>
            <a:off x="1333195" y="2876702"/>
            <a:ext cx="12006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r>
              <a:t>▲ +162%</a:t>
            </a:r>
          </a:p>
        </p:txBody>
      </p:sp>
      <p:sp>
        <p:nvSpPr>
          <p:cNvPr id="18" name="Text 12"/>
          <p:cNvSpPr txBox="1"/>
          <p:nvPr/>
        </p:nvSpPr>
        <p:spPr>
          <a:xfrm>
            <a:off x="6858000" y="16194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시간당 처리량 (박스/hr)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858000" y="1943100"/>
            <a:ext cx="457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1.6→4.2 /hr</a:t>
            </a:r>
          </a:p>
        </p:txBody>
      </p:sp>
      <p:sp>
        <p:nvSpPr>
          <p:cNvPr id="20" name="Text 14"/>
          <p:cNvSpPr txBox="1"/>
          <p:nvPr/>
        </p:nvSpPr>
        <p:spPr>
          <a:xfrm>
            <a:off x="6858000" y="3390595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5시간 · 동일 주문 데이터 기준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858000" y="2876702"/>
            <a:ext cx="1876349" cy="400507"/>
          </a:xfrm>
          <a:prstGeom prst="roundRect">
            <a:avLst>
              <a:gd name="adj" fmla="val 4795"/>
            </a:avLst>
          </a:prstGeom>
          <a:solidFill>
            <a:srgbClr val="EA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 txBox="1"/>
          <p:nvPr/>
        </p:nvSpPr>
        <p:spPr>
          <a:xfrm>
            <a:off x="6858000" y="2876702"/>
            <a:ext cx="1877263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r>
              <a:t>▲ +2.4/hr · ×2.6</a:t>
            </a:r>
          </a:p>
        </p:txBody>
      </p:sp>
      <p:sp>
        <p:nvSpPr>
          <p:cNvPr id="23" name="Text 17"/>
          <p:cNvSpPr txBox="1"/>
          <p:nvPr/>
        </p:nvSpPr>
        <p:spPr>
          <a:xfrm>
            <a:off x="12382805" y="16194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 수 · AGV 대수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2382805" y="1943100"/>
            <a:ext cx="457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1/60</a:t>
            </a:r>
            <a:pPr algn="l" indent="0" marL="0">
              <a:buNone/>
            </a:pPr>
            <a:r>
              <a:rPr lang="en-US" sz="19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pPr algn="l" indent="0" marL="0">
              <a:buNone/>
            </a:pPr>
            <a:r>
              <a:rPr lang="en-US" sz="5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3/60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382805" y="34097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적은 자원으로 </a:t>
            </a:r>
            <a:pPr algn="l" indent="0" marL="0">
              <a:buNone/>
            </a:pPr>
            <a:r>
              <a:rPr lang="en-US" sz="13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3배 지점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완료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2382805" y="2876702"/>
            <a:ext cx="2247595" cy="418795"/>
          </a:xfrm>
          <a:prstGeom prst="roundRect">
            <a:avLst>
              <a:gd name="adj" fmla="val 4585"/>
            </a:avLst>
          </a:prstGeom>
          <a:solidFill>
            <a:srgbClr val="EA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12382805" y="2876702"/>
            <a:ext cx="22485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×3배 · AGV 40→25대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52805" y="4048049"/>
            <a:ext cx="1638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박스 시각화 (5시간 기준, 총 8,858박스)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952805" y="4524451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52805" y="4809744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40대 · 2.9%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3333902" y="4572000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박스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52805" y="5095951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52805" y="5381244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25대 · 7.6%</a:t>
            </a:r>
          </a:p>
        </p:txBody>
      </p:sp>
      <p:sp>
        <p:nvSpPr>
          <p:cNvPr id="34" name="Text 28"/>
          <p:cNvSpPr txBox="1"/>
          <p:nvPr/>
        </p:nvSpPr>
        <p:spPr>
          <a:xfrm>
            <a:off x="3924605" y="5143500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672 박스 (+416)</a:t>
            </a:r>
          </a:p>
        </p:txBody>
      </p:sp>
      <p:sp>
        <p:nvSpPr>
          <p:cNvPr id="35" name="Text 29"/>
          <p:cNvSpPr txBox="1"/>
          <p:nvPr/>
        </p:nvSpPr>
        <p:spPr>
          <a:xfrm>
            <a:off x="952805" y="5619902"/>
            <a:ext cx="1638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성능 지표 상세 비교 (표 8)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048756"/>
          <a:ext cx="16383305" cy="3791102"/>
        </p:xfrm>
        <a:graphic>
          <a:graphicData uri="http://schemas.openxmlformats.org/drawingml/2006/table">
            <a:tbl>
              <a:tblPr/>
              <a:tblGrid>
                <a:gridCol w="5242255"/>
                <a:gridCol w="3604565"/>
                <a:gridCol w="3604565"/>
                <a:gridCol w="3931920"/>
              </a:tblGrid>
              <a:tr h="421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성능 지표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8B3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AS-IS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A8E6C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TO-BE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0A5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개선폭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팔레트 (5hr)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 팔레트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팔레트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▲ +162% (×2.6)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박스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256 박스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672 박스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▲ +416 박스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지점 수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 / 60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 / 60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×3배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시간당 처리량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 박스/hr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4.2 팔레트/hr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 +2.4/hr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제함기1 가동률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≈ 100% (포화)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약 약 30%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▼ −6%p (병목 해소)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제함기2 가동률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≈ 0% (사장)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약 약 70%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 유휴 자원 활용화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평균 가동률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23%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약 50%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▲ +21%p (×2.2)</a:t>
                      </a: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운영 대수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 대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 대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▼ −15대 (−37.5%)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0" y="6858000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7381951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86000" y="7905902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0" y="8429854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805" y="9144000"/>
            <a:ext cx="16383305" cy="761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0" descr="gen-dedup-809cc88aa64e0cfb0b6be5dae97d77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0" y="6858000"/>
            <a:ext cx="9525305" cy="342900"/>
          </a:xfrm>
          <a:prstGeom prst="rect">
            <a:avLst/>
          </a:prstGeom>
          <a:solidFill>
            <a:srgbClr val="2E6F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286000" y="7381951"/>
            <a:ext cx="5715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286000" y="7905902"/>
            <a:ext cx="6572707" cy="342900"/>
          </a:xfrm>
          <a:prstGeom prst="rect">
            <a:avLst/>
          </a:prstGeom>
          <a:solidFill>
            <a:srgbClr val="1E7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286000" y="8429854"/>
            <a:ext cx="1333195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· 민감도 분석 · AGV 운영 대수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25대가 처리량-혼잡의 최적 균형점이다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524305"/>
            <a:ext cx="16383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15 / 20 / 25 / 35 / 40대 수준을 실험하여 성능 곡선을 확인하였다. 대수가 </a:t>
            </a:r>
            <a:pPr algn="l" indent="0" marL="0">
              <a:buNone/>
            </a:pPr>
            <a:r>
              <a:rPr lang="en-US" sz="18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지나치게 많으면 동선 충돌·대기</a:t>
            </a:r>
            <a:pPr algn="l" indent="0" marL="0">
              <a:buNone/>
            </a:pPr>
            <a:r>
              <a:rPr lang="en-US" sz="18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늘어 오히려 정체되며, </a:t>
            </a:r>
            <a:pPr algn="l" indent="0" marL="0">
              <a:buNone/>
            </a:pPr>
            <a:r>
              <a:rPr lang="en-US" sz="18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적으면 박스 수령 지연</a:t>
            </a:r>
            <a:pPr algn="l" indent="0" marL="0">
              <a:buNone/>
            </a:pPr>
            <a:r>
              <a:rPr lang="en-US" sz="18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발생한다.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667305"/>
          <a:ext cx="16383305" cy="2943454"/>
        </p:xfrm>
        <a:graphic>
          <a:graphicData uri="http://schemas.openxmlformats.org/drawingml/2006/table">
            <a:tbl>
              <a:tblPr/>
              <a:tblGrid>
                <a:gridCol w="2293315"/>
                <a:gridCol w="3276295"/>
                <a:gridCol w="3276295"/>
                <a:gridCol w="2621585"/>
                <a:gridCol w="4914900"/>
              </a:tblGrid>
              <a:tr h="58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대수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팔레트 (5hr)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시간당 처리량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가동률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 팔레트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 박스/hr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27%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불가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불가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45%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교착 발생 · 운영 불가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 (TO-BE)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팔레트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4.2 팔레트/hr</a:t>
                      </a: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약 50%</a:t>
                      </a: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· 기준 시나리오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 팔레트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 박스/hr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34%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교착 발생 · 운영 불가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952805" y="6286500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팔레트 시각 비교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52805" y="6858000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15대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906402" y="688634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팔레트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952805" y="7381951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2952598" y="7410298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교착 · 측정 불가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52805" y="7905902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 ★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953805" y="7934249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21 팔레트 · 정상 · 기준</a:t>
            </a:r>
          </a:p>
        </p:txBody>
      </p:sp>
      <p:sp>
        <p:nvSpPr>
          <p:cNvPr id="24" name="Text 20"/>
          <p:cNvSpPr txBox="1"/>
          <p:nvPr/>
        </p:nvSpPr>
        <p:spPr>
          <a:xfrm>
            <a:off x="952805" y="8429854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35대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3715207" y="8458200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팔레트 · 교착 발생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333195" y="9381744"/>
            <a:ext cx="1562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Takeaway.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15대는 정상이지만 처리량 여유가 부족하고 25대가 팔레트/hr·가동률의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 최적점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a16de22b6ad0e12f2500559d2492521c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952805" y="2667305"/>
            <a:ext cx="5333695" cy="3866998"/>
          </a:xfrm>
          <a:prstGeom prst="rect">
            <a:avLst/>
          </a:prstGeom>
        </p:spPr>
      </p:pic>
      <p:pic>
        <p:nvPicPr>
          <p:cNvPr id="4" name="Image 1" descr="gen-dedup-a16de22b6ad0e12f2500559d2492521c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476695" y="2667305"/>
            <a:ext cx="5333695" cy="3866998"/>
          </a:xfrm>
          <a:prstGeom prst="rect">
            <a:avLst/>
          </a:prstGeom>
        </p:spPr>
      </p:pic>
      <p:pic>
        <p:nvPicPr>
          <p:cNvPr id="5" name="Image 2" descr="gen-dedup-a16de22b6ad0e12f2500559d2492521c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12001500" y="2667305"/>
            <a:ext cx="5333695" cy="386699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52805" y="6858000"/>
            <a:ext cx="16383305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952805" y="8287207"/>
            <a:ext cx="16439998" cy="1429207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8" name="Shape 3"/>
          <p:cNvSpPr/>
          <p:nvPr/>
        </p:nvSpPr>
        <p:spPr>
          <a:xfrm>
            <a:off x="952805" y="8287207"/>
            <a:ext cx="57607" cy="142920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· 결론 및 제언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Zero-Cost 운영 로직 개선으로 병목을 해소한다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952805" y="1524305"/>
            <a:ext cx="163833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핵심 병목은 S/A 박스 91.7% (DB) · 이론 75%를 제함기1이 단독으로 처리하는 라우팅 로직에 있었다. TO-BE 모델은 세 가지 개선을 통해 이 구조를 해소하고 처리량을 유의미하게 향상시켰다.</a:t>
            </a:r>
          </a:p>
        </p:txBody>
      </p:sp>
      <p:sp>
        <p:nvSpPr>
          <p:cNvPr id="13" name="Text 7"/>
          <p:cNvSpPr txBox="1"/>
          <p:nvPr/>
        </p:nvSpPr>
        <p:spPr>
          <a:xfrm>
            <a:off x="1333195" y="2905049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01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3219602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분산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1333195" y="3748126"/>
            <a:ext cx="4572000" cy="986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조건 </a:t>
            </a:r>
            <a:pPr algn="l" indent="0" marL="0">
              <a:lnSpc>
                <a:spcPts val="2475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1줄 추가</a:t>
            </a:r>
            <a:pPr algn="l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만으로 구현 가능한 가장 단순하고 효과가 큰 개선.</a:t>
            </a:r>
            <a:pPr algn="l" indent="0" marL="0">
              <a:lnSpc>
                <a:spcPts val="2475"/>
              </a:lnSpc>
              <a:buNone/>
            </a:pPr>
            <a:endParaRPr lang="en-US" sz="15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설비 없이 기존 제함기2의 유휴 용량을 즉시 활용.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1333195" y="4962449"/>
            <a:ext cx="4572000" cy="9144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7" name="Shape 11"/>
          <p:cNvSpPr/>
          <p:nvPr/>
        </p:nvSpPr>
        <p:spPr>
          <a:xfrm>
            <a:off x="1333195" y="4962449"/>
            <a:ext cx="38405" cy="9144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 txBox="1"/>
          <p:nvPr/>
        </p:nvSpPr>
        <p:spPr>
          <a:xfrm>
            <a:off x="1561795" y="5115154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제함기1 100% → 약 30%</a:t>
            </a:r>
          </a:p>
        </p:txBody>
      </p:sp>
      <p:sp>
        <p:nvSpPr>
          <p:cNvPr id="19" name="Text 13"/>
          <p:cNvSpPr txBox="1"/>
          <p:nvPr/>
        </p:nvSpPr>
        <p:spPr>
          <a:xfrm>
            <a:off x="1561795" y="5419649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제함기2 0% → 약 70%</a:t>
            </a:r>
          </a:p>
        </p:txBody>
      </p:sp>
      <p:sp>
        <p:nvSpPr>
          <p:cNvPr id="20" name="Text 14"/>
          <p:cNvSpPr txBox="1"/>
          <p:nvPr/>
        </p:nvSpPr>
        <p:spPr>
          <a:xfrm>
            <a:off x="6858000" y="2905049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02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0" y="3219602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운영 최적화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791102"/>
            <a:ext cx="45720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 운영은 40대 대비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비용(유지보수·충전) 절감</a:t>
            </a:r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처리량 향상 동시 달성. 최근접 배차는 파라미터 1개 변경으로 즉시 적용.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858000" y="4962449"/>
            <a:ext cx="4572000" cy="9144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6858000" y="4962449"/>
            <a:ext cx="38405" cy="9144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7086600" y="5115154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40대 (23%) → 25대 (50%)</a:t>
            </a:r>
          </a:p>
        </p:txBody>
      </p:sp>
      <p:sp>
        <p:nvSpPr>
          <p:cNvPr id="26" name="Text 20"/>
          <p:cNvSpPr txBox="1"/>
          <p:nvPr/>
        </p:nvSpPr>
        <p:spPr>
          <a:xfrm>
            <a:off x="7086600" y="5419649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가동률 </a:t>
            </a:r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2배</a:t>
            </a:r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향상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2382805" y="2905049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03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2382805" y="3219602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동적 배정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12382805" y="3791102"/>
            <a:ext cx="4572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지점별 잔여 박스 기반 슬롯 할당은 특히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소량 지점의 처리 효율</a:t>
            </a:r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높여 전체 슬롯 점유 사이클을 가속화.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12382805" y="4647895"/>
            <a:ext cx="4572000" cy="9144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12382805" y="4647895"/>
            <a:ext cx="38405" cy="9144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12611405" y="4800600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 1 → 3 (5hr)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12611405" y="5105095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회전율 상승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333195" y="7144207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RESULT (5hr, 동일 조건)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1333195" y="7487107"/>
            <a:ext cx="15621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완료 팔레트 8 → 21 · 박스 256 → 672 · 시간당 처리량 1.6 → 4.2 팔레트/hr</a:t>
            </a:r>
          </a:p>
        </p:txBody>
      </p:sp>
      <p:sp>
        <p:nvSpPr>
          <p:cNvPr id="36" name="Text 30"/>
          <p:cNvSpPr txBox="1"/>
          <p:nvPr/>
        </p:nvSpPr>
        <p:spPr>
          <a:xfrm>
            <a:off x="1333195" y="8524951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과제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1333195" y="8854135"/>
            <a:ext cx="15621610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잔여 박스 수 기반 지점 투입 순서 최적화 (스케줄링 확장)</a:t>
            </a:r>
            <a:pPr algn="l" indent="0" marL="0">
              <a:lnSpc>
                <a:spcPts val="2640"/>
              </a:lnSpc>
              <a:buNone/>
            </a:pPr>
            <a:endParaRPr lang="en-US" sz="160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C급 스테이션 병렬 처리 작업자 증원 · 시간대별 주문 패턴을 고려한 </a:t>
            </a:r>
            <a:pPr algn="l" indent="0" marL="0">
              <a:lnSpc>
                <a:spcPts val="2640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 동적 조절</a:t>
            </a:r>
            <a:pPr algn="l" indent="0" marL="0">
              <a:lnSpc>
                <a:spcPts val="2640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확장 적용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abb7b4cc4cc90fd6c94245ba4b4eaf6d.jpg">    </p:cNvPr>
          <p:cNvPicPr>
            <a:picLocks noChangeAspect="1"/>
          </p:cNvPicPr>
          <p:nvPr/>
        </p:nvPicPr>
        <p:blipFill>
          <a:blip r:embed="rId1"/>
          <a:srcRect l="-9" r="-9" t="0" b="0"/>
          <a:stretch/>
        </p:blipFill>
        <p:spPr>
          <a:xfrm>
            <a:off x="952805" y="1429207"/>
            <a:ext cx="16383305" cy="1904695"/>
          </a:xfrm>
          <a:prstGeom prst="rect">
            <a:avLst/>
          </a:prstGeom>
        </p:spPr>
      </p:pic>
      <p:pic>
        <p:nvPicPr>
          <p:cNvPr id="4" name="Image 1" descr="gen-dedup-a16de22b6ad0e12f2500559d2492521c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952805" y="4286707"/>
            <a:ext cx="5333695" cy="3866998"/>
          </a:xfrm>
          <a:prstGeom prst="rect">
            <a:avLst/>
          </a:prstGeom>
        </p:spPr>
      </p:pic>
      <p:pic>
        <p:nvPicPr>
          <p:cNvPr id="5" name="Image 2" descr="gen-dedup-a16de22b6ad0e12f2500559d2492521c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6476695" y="4286707"/>
            <a:ext cx="5333695" cy="3866998"/>
          </a:xfrm>
          <a:prstGeom prst="rect">
            <a:avLst/>
          </a:prstGeom>
        </p:spPr>
      </p:pic>
      <p:pic>
        <p:nvPicPr>
          <p:cNvPr id="6" name="Image 3" descr="gen-dedup-a16de22b6ad0e12f2500559d2492521c.png">    </p:cNvPr>
          <p:cNvPicPr>
            <a:picLocks noChangeAspect="1"/>
          </p:cNvPicPr>
          <p:nvPr/>
        </p:nvPicPr>
        <p:blipFill>
          <a:blip r:embed="rId4"/>
          <a:srcRect l="0" r="0" t="-1" b="-1"/>
          <a:stretch/>
        </p:blipFill>
        <p:spPr>
          <a:xfrm>
            <a:off x="12001500" y="4286707"/>
            <a:ext cx="5333695" cy="3866998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52805" y="8524951"/>
            <a:ext cx="16383305" cy="1047902"/>
          </a:xfrm>
          <a:prstGeom prst="rect">
            <a:avLst/>
          </a:prstGeom>
          <a:solidFill>
            <a:srgbClr val="F0A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4" descr="gen-dedup-809cc88aa64e0cfb0b6be5dae97d77f2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pic>
        <p:nvPicPr>
          <p:cNvPr id="9" name="Image 5" descr="gen-dedup-668a07a71ba8c417b487701c925fc11d.png">    </p:cNvPr>
          <p:cNvPicPr>
            <a:picLocks noChangeAspect="1"/>
          </p:cNvPicPr>
          <p:nvPr/>
        </p:nvPicPr>
        <p:blipFill>
          <a:blip r:embed="rId6"/>
          <a:srcRect l="-412" r="-412" t="0" b="0"/>
          <a:stretch/>
        </p:blipFill>
        <p:spPr>
          <a:xfrm>
            <a:off x="5143500" y="1714500"/>
            <a:ext cx="19202" cy="1333195"/>
          </a:xfrm>
          <a:prstGeom prst="rect">
            <a:avLst/>
          </a:prstGeom>
        </p:spPr>
      </p:pic>
      <p:pic>
        <p:nvPicPr>
          <p:cNvPr id="10" name="Image 6" descr="gen-dedup-668a07a71ba8c417b487701c925fc11d.png">    </p:cNvPr>
          <p:cNvPicPr>
            <a:picLocks noChangeAspect="1"/>
          </p:cNvPicPr>
          <p:nvPr/>
        </p:nvPicPr>
        <p:blipFill>
          <a:blip r:embed="rId7"/>
          <a:srcRect l="-412" r="-412" t="0" b="0"/>
          <a:stretch/>
        </p:blipFill>
        <p:spPr>
          <a:xfrm>
            <a:off x="9334195" y="1714500"/>
            <a:ext cx="19202" cy="1333195"/>
          </a:xfrm>
          <a:prstGeom prst="rect">
            <a:avLst/>
          </a:prstGeom>
        </p:spPr>
      </p:pic>
      <p:pic>
        <p:nvPicPr>
          <p:cNvPr id="11" name="Image 7" descr="gen-dedup-668a07a71ba8c417b487701c925fc11d.png">    </p:cNvPr>
          <p:cNvPicPr>
            <a:picLocks noChangeAspect="1"/>
          </p:cNvPicPr>
          <p:nvPr/>
        </p:nvPicPr>
        <p:blipFill>
          <a:blip r:embed="rId8"/>
          <a:srcRect l="-412" r="-412" t="0" b="0"/>
          <a:stretch/>
        </p:blipFill>
        <p:spPr>
          <a:xfrm>
            <a:off x="13525805" y="1714500"/>
            <a:ext cx="19202" cy="1333195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· 개선 임팩트 정량 종합</a:t>
            </a:r>
            <a:endParaRPr lang="en-US" sz="1300" dirty="0"/>
          </a:p>
        </p:txBody>
      </p:sp>
      <p:sp>
        <p:nvSpPr>
          <p:cNvPr id="13" name="Text 3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전략이 만든 성과 — 무엇이, 얼마나 좋아졌는가</a:t>
            </a:r>
            <a:endParaRPr lang="en-US" sz="2800" dirty="0"/>
          </a:p>
        </p:txBody>
      </p:sp>
      <p:sp>
        <p:nvSpPr>
          <p:cNvPr id="14" name="Text 4"/>
          <p:cNvSpPr txBox="1"/>
          <p:nvPr/>
        </p:nvSpPr>
        <p:spPr>
          <a:xfrm>
            <a:off x="1333195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처리량</a:t>
            </a:r>
            <a:endParaRPr lang="en-US" sz="1200" dirty="0"/>
          </a:p>
        </p:txBody>
      </p:sp>
      <p:sp>
        <p:nvSpPr>
          <p:cNvPr id="15" name="Text 5"/>
          <p:cNvSpPr txBox="1"/>
          <p:nvPr/>
        </p:nvSpPr>
        <p:spPr>
          <a:xfrm>
            <a:off x="1333195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+162%</a:t>
            </a:r>
          </a:p>
        </p:txBody>
      </p:sp>
      <p:sp>
        <p:nvSpPr>
          <p:cNvPr id="16" name="Text 6"/>
          <p:cNvSpPr txBox="1"/>
          <p:nvPr/>
        </p:nvSpPr>
        <p:spPr>
          <a:xfrm>
            <a:off x="1333195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1.6 → 4.2 팔레트/hr</a:t>
            </a:r>
          </a:p>
          <a:p>
            <a:r>
              <a:t>(×2.6)</a:t>
            </a:r>
          </a:p>
        </p:txBody>
      </p:sp>
      <p:sp>
        <p:nvSpPr>
          <p:cNvPr id="17" name="Text 7"/>
          <p:cNvSpPr txBox="1"/>
          <p:nvPr/>
        </p:nvSpPr>
        <p:spPr>
          <a:xfrm>
            <a:off x="5524805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박스</a:t>
            </a:r>
            <a:endParaRPr lang="en-US" sz="1200" dirty="0"/>
          </a:p>
        </p:txBody>
      </p:sp>
      <p:sp>
        <p:nvSpPr>
          <p:cNvPr id="18" name="Text 8"/>
          <p:cNvSpPr txBox="1"/>
          <p:nvPr/>
        </p:nvSpPr>
        <p:spPr>
          <a:xfrm>
            <a:off x="5524805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+416</a:t>
            </a:r>
          </a:p>
        </p:txBody>
      </p:sp>
      <p:sp>
        <p:nvSpPr>
          <p:cNvPr id="19" name="Text 9"/>
          <p:cNvSpPr txBox="1"/>
          <p:nvPr/>
        </p:nvSpPr>
        <p:spPr>
          <a:xfrm>
            <a:off x="5524805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256 → 672 박스</a:t>
            </a:r>
          </a:p>
          <a:p>
            <a:r>
              <a:t>(5시간 · 동일 조건)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9715500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가동률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9715500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×2.2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9715500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23% → 50% (+21%p)</a:t>
            </a:r>
          </a:p>
          <a:p>
            <a:r>
              <a:t>AGV 대수 40 → 25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13906195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13906195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−15대</a:t>
            </a:r>
            <a:endParaRPr lang="en-US" sz="5700" dirty="0"/>
          </a:p>
        </p:txBody>
      </p:sp>
      <p:sp>
        <p:nvSpPr>
          <p:cNvPr id="25" name="Text 15"/>
          <p:cNvSpPr txBox="1"/>
          <p:nvPr/>
        </p:nvSpPr>
        <p:spPr>
          <a:xfrm>
            <a:off x="13906195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→ 25대 (−37.5%)</a:t>
            </a:r>
            <a:pPr algn="l" indent="0" marL="0">
              <a:lnSpc>
                <a:spcPts val="1890"/>
              </a:lnSpc>
              <a:buNone/>
            </a:pPr>
            <a:endParaRPr lang="en-US" sz="13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적게, 더 많이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952805" y="3715207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전략별 정량 기여도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1333195" y="44769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01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1333195" y="4714646"/>
            <a:ext cx="457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분산</a:t>
            </a:r>
            <a:endParaRPr lang="en-US" sz="1900" dirty="0"/>
          </a:p>
        </p:txBody>
      </p:sp>
      <p:sp>
        <p:nvSpPr>
          <p:cNvPr id="29" name="Text 19"/>
          <p:cNvSpPr txBox="1"/>
          <p:nvPr/>
        </p:nvSpPr>
        <p:spPr>
          <a:xfrm>
            <a:off x="1333195" y="51242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조건 1줄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1333195" y="5581498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제함기1 부하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1333195" y="5867705"/>
            <a:ext cx="84856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2500" dirty="0"/>
          </a:p>
        </p:txBody>
      </p:sp>
      <p:sp>
        <p:nvSpPr>
          <p:cNvPr id="32" name="Text 22"/>
          <p:cNvSpPr txBox="1"/>
          <p:nvPr/>
        </p:nvSpPr>
        <p:spPr>
          <a:xfrm>
            <a:off x="2268626" y="6010351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23"/>
          <p:cNvSpPr txBox="1"/>
          <p:nvPr/>
        </p:nvSpPr>
        <p:spPr>
          <a:xfrm>
            <a:off x="2528316" y="5790895"/>
            <a:ext cx="81015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약 30%</a:t>
            </a:r>
          </a:p>
        </p:txBody>
      </p:sp>
      <p:sp>
        <p:nvSpPr>
          <p:cNvPr id="34" name="Text 24"/>
          <p:cNvSpPr txBox="1"/>
          <p:nvPr/>
        </p:nvSpPr>
        <p:spPr>
          <a:xfrm>
            <a:off x="1333195" y="64766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제함기2 부하 (사장 자원)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1333195" y="6762902"/>
            <a:ext cx="47640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2500" dirty="0"/>
          </a:p>
        </p:txBody>
      </p:sp>
      <p:sp>
        <p:nvSpPr>
          <p:cNvPr id="36" name="Text 26"/>
          <p:cNvSpPr txBox="1"/>
          <p:nvPr/>
        </p:nvSpPr>
        <p:spPr>
          <a:xfrm>
            <a:off x="1895551" y="6905549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2155241" y="6687007"/>
            <a:ext cx="81015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약 70%</a:t>
            </a:r>
          </a:p>
        </p:txBody>
      </p:sp>
      <p:sp>
        <p:nvSpPr>
          <p:cNvPr id="38" name="Shape 28"/>
          <p:cNvSpPr/>
          <p:nvPr/>
        </p:nvSpPr>
        <p:spPr>
          <a:xfrm>
            <a:off x="1333195" y="7410298"/>
            <a:ext cx="4572000" cy="476402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39" name="Shape 29"/>
          <p:cNvSpPr/>
          <p:nvPr/>
        </p:nvSpPr>
        <p:spPr>
          <a:xfrm>
            <a:off x="1333195" y="7410298"/>
            <a:ext cx="38405" cy="47640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0"/>
          <p:cNvSpPr txBox="1"/>
          <p:nvPr/>
        </p:nvSpPr>
        <p:spPr>
          <a:xfrm>
            <a:off x="1524305" y="7524598"/>
            <a:ext cx="42291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해소 → 하류 공정 처리량 증가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6858000" y="44769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02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6858000" y="4714646"/>
            <a:ext cx="457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최적 운영</a:t>
            </a:r>
            <a:endParaRPr lang="en-US" sz="1900" dirty="0"/>
          </a:p>
        </p:txBody>
      </p:sp>
      <p:sp>
        <p:nvSpPr>
          <p:cNvPr id="43" name="Text 33"/>
          <p:cNvSpPr txBox="1"/>
          <p:nvPr/>
        </p:nvSpPr>
        <p:spPr>
          <a:xfrm>
            <a:off x="6858000" y="51242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 최적화 + 최근접 배차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6858000" y="5581498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858000" y="5886907"/>
            <a:ext cx="75072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40대</a:t>
            </a:r>
            <a:endParaRPr lang="en-US" sz="2500" dirty="0"/>
          </a:p>
        </p:txBody>
      </p:sp>
      <p:sp>
        <p:nvSpPr>
          <p:cNvPr id="46" name="Text 36"/>
          <p:cNvSpPr txBox="1"/>
          <p:nvPr/>
        </p:nvSpPr>
        <p:spPr>
          <a:xfrm>
            <a:off x="7624267" y="6048756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7883957" y="5790895"/>
            <a:ext cx="96012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</a:t>
            </a:r>
            <a:endParaRPr lang="en-US" sz="3100" dirty="0"/>
          </a:p>
        </p:txBody>
      </p:sp>
      <p:sp>
        <p:nvSpPr>
          <p:cNvPr id="48" name="Text 38"/>
          <p:cNvSpPr txBox="1"/>
          <p:nvPr/>
        </p:nvSpPr>
        <p:spPr>
          <a:xfrm>
            <a:off x="8807501" y="6048756"/>
            <a:ext cx="97840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(−37.5%)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6858000" y="6524244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평균 가동률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6858000" y="6810451"/>
            <a:ext cx="65745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23%</a:t>
            </a:r>
            <a:endParaRPr lang="en-US" sz="2500" dirty="0"/>
          </a:p>
        </p:txBody>
      </p:sp>
      <p:sp>
        <p:nvSpPr>
          <p:cNvPr id="51" name="Text 41"/>
          <p:cNvSpPr txBox="1"/>
          <p:nvPr/>
        </p:nvSpPr>
        <p:spPr>
          <a:xfrm>
            <a:off x="7606894" y="6953098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7866583" y="6734556"/>
            <a:ext cx="81015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50%</a:t>
            </a:r>
          </a:p>
        </p:txBody>
      </p:sp>
      <p:sp>
        <p:nvSpPr>
          <p:cNvPr id="53" name="Text 43"/>
          <p:cNvSpPr txBox="1"/>
          <p:nvPr/>
        </p:nvSpPr>
        <p:spPr>
          <a:xfrm>
            <a:off x="8769096" y="6953098"/>
            <a:ext cx="6574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(×2.2)</a:t>
            </a:r>
          </a:p>
        </p:txBody>
      </p:sp>
      <p:sp>
        <p:nvSpPr>
          <p:cNvPr id="54" name="Shape 44"/>
          <p:cNvSpPr/>
          <p:nvPr/>
        </p:nvSpPr>
        <p:spPr>
          <a:xfrm>
            <a:off x="6858000" y="7457846"/>
            <a:ext cx="4572000" cy="476402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55" name="Shape 45"/>
          <p:cNvSpPr/>
          <p:nvPr/>
        </p:nvSpPr>
        <p:spPr>
          <a:xfrm>
            <a:off x="6858000" y="7457846"/>
            <a:ext cx="38405" cy="47640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46"/>
          <p:cNvSpPr txBox="1"/>
          <p:nvPr/>
        </p:nvSpPr>
        <p:spPr>
          <a:xfrm>
            <a:off x="7048195" y="7572146"/>
            <a:ext cx="42291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공주행 감소 · 운영비 절감 동시 달성</a:t>
            </a:r>
            <a:endParaRPr lang="en-US" sz="1300" dirty="0"/>
          </a:p>
        </p:txBody>
      </p:sp>
      <p:sp>
        <p:nvSpPr>
          <p:cNvPr id="57" name="Text 47"/>
          <p:cNvSpPr txBox="1"/>
          <p:nvPr/>
        </p:nvSpPr>
        <p:spPr>
          <a:xfrm>
            <a:off x="12382805" y="44769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03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12382805" y="4714646"/>
            <a:ext cx="457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동적 배정</a:t>
            </a:r>
            <a:endParaRPr lang="en-US" sz="1900" dirty="0"/>
          </a:p>
        </p:txBody>
      </p:sp>
      <p:sp>
        <p:nvSpPr>
          <p:cNvPr id="59" name="Text 49"/>
          <p:cNvSpPr txBox="1"/>
          <p:nvPr/>
        </p:nvSpPr>
        <p:spPr>
          <a:xfrm>
            <a:off x="12382805" y="51242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branchRemainingTotal 기반</a:t>
            </a:r>
            <a:endParaRPr lang="en-US" sz="1300" dirty="0"/>
          </a:p>
        </p:txBody>
      </p:sp>
      <p:sp>
        <p:nvSpPr>
          <p:cNvPr id="60" name="Text 50"/>
          <p:cNvSpPr txBox="1"/>
          <p:nvPr/>
        </p:nvSpPr>
        <p:spPr>
          <a:xfrm>
            <a:off x="12382805" y="5581498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 수 (5hr / 60지점)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12382805" y="5867705"/>
            <a:ext cx="20848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500" dirty="0"/>
          </a:p>
        </p:txBody>
      </p:sp>
      <p:sp>
        <p:nvSpPr>
          <p:cNvPr id="62" name="Text 52"/>
          <p:cNvSpPr txBox="1"/>
          <p:nvPr/>
        </p:nvSpPr>
        <p:spPr>
          <a:xfrm>
            <a:off x="12664440" y="6010351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63" name="Text 53"/>
          <p:cNvSpPr txBox="1"/>
          <p:nvPr/>
        </p:nvSpPr>
        <p:spPr>
          <a:xfrm>
            <a:off x="12924130" y="5790895"/>
            <a:ext cx="267919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100" dirty="0"/>
          </a:p>
        </p:txBody>
      </p:sp>
      <p:sp>
        <p:nvSpPr>
          <p:cNvPr id="64" name="Text 54"/>
          <p:cNvSpPr txBox="1"/>
          <p:nvPr/>
        </p:nvSpPr>
        <p:spPr>
          <a:xfrm>
            <a:off x="13249656" y="6001207"/>
            <a:ext cx="66934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(×3배)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2382805" y="64766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팔레트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12382805" y="6762902"/>
            <a:ext cx="20848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2500" dirty="0"/>
          </a:p>
        </p:txBody>
      </p:sp>
      <p:sp>
        <p:nvSpPr>
          <p:cNvPr id="67" name="Text 57"/>
          <p:cNvSpPr txBox="1"/>
          <p:nvPr/>
        </p:nvSpPr>
        <p:spPr>
          <a:xfrm>
            <a:off x="12664440" y="6905549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68" name="Text 58"/>
          <p:cNvSpPr txBox="1"/>
          <p:nvPr/>
        </p:nvSpPr>
        <p:spPr>
          <a:xfrm>
            <a:off x="12924130" y="6687007"/>
            <a:ext cx="5340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3100" dirty="0"/>
          </a:p>
        </p:txBody>
      </p:sp>
      <p:sp>
        <p:nvSpPr>
          <p:cNvPr id="69" name="Text 59"/>
          <p:cNvSpPr txBox="1"/>
          <p:nvPr/>
        </p:nvSpPr>
        <p:spPr>
          <a:xfrm>
            <a:off x="13479170" y="6905549"/>
            <a:ext cx="857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(+162%)</a:t>
            </a:r>
          </a:p>
        </p:txBody>
      </p:sp>
      <p:sp>
        <p:nvSpPr>
          <p:cNvPr id="70" name="Shape 60"/>
          <p:cNvSpPr/>
          <p:nvPr/>
        </p:nvSpPr>
        <p:spPr>
          <a:xfrm>
            <a:off x="12382805" y="7410298"/>
            <a:ext cx="4572000" cy="476402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71" name="Shape 61"/>
          <p:cNvSpPr/>
          <p:nvPr/>
        </p:nvSpPr>
        <p:spPr>
          <a:xfrm>
            <a:off x="12382805" y="7410298"/>
            <a:ext cx="38405" cy="47640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62"/>
          <p:cNvSpPr txBox="1"/>
          <p:nvPr/>
        </p:nvSpPr>
        <p:spPr>
          <a:xfrm>
            <a:off x="12573000" y="7524598"/>
            <a:ext cx="42291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소량 지점 조기 완료 → 회전율 상승</a:t>
            </a:r>
            <a:endParaRPr lang="en-US" sz="1300" dirty="0"/>
          </a:p>
        </p:txBody>
      </p:sp>
      <p:sp>
        <p:nvSpPr>
          <p:cNvPr id="73" name="Text 63"/>
          <p:cNvSpPr txBox="1"/>
          <p:nvPr/>
        </p:nvSpPr>
        <p:spPr>
          <a:xfrm>
            <a:off x="1333195" y="8762695"/>
            <a:ext cx="1562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ONE-LINE</a:t>
            </a:r>
            <a:endParaRPr lang="en-US" sz="1200" dirty="0"/>
          </a:p>
        </p:txBody>
      </p:sp>
      <p:sp>
        <p:nvSpPr>
          <p:cNvPr id="74" name="Text 64"/>
          <p:cNvSpPr txBox="1"/>
          <p:nvPr/>
        </p:nvSpPr>
        <p:spPr>
          <a:xfrm>
            <a:off x="1333195" y="9020556"/>
            <a:ext cx="15621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추가 설비 0원 · 코드 변경 3곳으로 처리량 +162% · AGV −15대 · 완료 지점 ×3배를 동시에 달성했다.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805" y="2000707"/>
            <a:ext cx="10534802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f1e3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2805" y="2000707"/>
            <a:ext cx="57607" cy="1904695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52805" y="4095598"/>
            <a:ext cx="10534802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f1e3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805" y="4095598"/>
            <a:ext cx="57607" cy="1904695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805" y="6191402"/>
            <a:ext cx="10534802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f1e3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52805" y="6191402"/>
            <a:ext cx="57607" cy="1904695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11305" y="2000707"/>
            <a:ext cx="5524805" cy="60963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52805" y="8524951"/>
            <a:ext cx="16439998" cy="104790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2805" y="8524951"/>
            <a:ext cx="57607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0" descr="gen-dedup-809cc88aa64e0cfb0b6be5dae97d77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· 구현 요약 · 검증 방법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어디를, 어떻게 바꿔서, 어떻게 측정했는가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524305"/>
            <a:ext cx="10478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TO-BE에서 실제로 바꾼 3곳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233879"/>
            <a:ext cx="495605" cy="495605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981505" y="2190902"/>
            <a:ext cx="28657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· 라우팅 블록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981505" y="2438705"/>
            <a:ext cx="325252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분산 조건 추가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2905049"/>
            <a:ext cx="9715500" cy="505663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 &lt;= delay_Erector2.size()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3504895"/>
            <a:ext cx="9715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→ 제함기1 부하 100% → 약 30% · 제함기2 0% → 약 70%</a:t>
            </a:r>
          </a:p>
        </p:txBody>
      </p:sp>
      <p:sp>
        <p:nvSpPr>
          <p:cNvPr id="21" name="Text 18"/>
          <p:cNvSpPr txBox="1"/>
          <p:nvPr/>
        </p:nvSpPr>
        <p:spPr>
          <a:xfrm>
            <a:off x="1333195" y="4328770"/>
            <a:ext cx="495605" cy="495605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981505" y="4286707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MoveByTransporter · 5개 블록 TransporterRating</a:t>
            </a:r>
          </a:p>
        </p:txBody>
      </p:sp>
      <p:sp>
        <p:nvSpPr>
          <p:cNvPr id="23" name="Text 20"/>
          <p:cNvSpPr txBox="1"/>
          <p:nvPr/>
        </p:nvSpPr>
        <p:spPr>
          <a:xfrm>
            <a:off x="1981505" y="4533595"/>
            <a:ext cx="41340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최근접 AGV 우선 배차 + 대수 조정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5000854"/>
            <a:ext cx="9715500" cy="505663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r>
              <a:t>−unit.distanceTo(agent) · agvCount = 25</a:t>
            </a:r>
          </a:p>
        </p:txBody>
      </p:sp>
      <p:sp>
        <p:nvSpPr>
          <p:cNvPr id="25" name="Text 22"/>
          <p:cNvSpPr txBox="1"/>
          <p:nvPr/>
        </p:nvSpPr>
        <p:spPr>
          <a:xfrm>
            <a:off x="1333195" y="5600700"/>
            <a:ext cx="9715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→ AGV 가동률 23% → 50% (×2.2) · 운영 대수 −15대 (−37.5%)</a:t>
            </a:r>
          </a:p>
        </p:txBody>
      </p:sp>
      <p:sp>
        <p:nvSpPr>
          <p:cNvPr id="26" name="Text 23"/>
          <p:cNvSpPr txBox="1"/>
          <p:nvPr/>
        </p:nvSpPr>
        <p:spPr>
          <a:xfrm>
            <a:off x="1333195" y="6424574"/>
            <a:ext cx="495605" cy="495605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1981505" y="6381598"/>
            <a:ext cx="23628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selectOutput6/7 · 슬롯 배정</a:t>
            </a:r>
          </a:p>
        </p:txBody>
      </p:sp>
      <p:sp>
        <p:nvSpPr>
          <p:cNvPr id="28" name="Text 25"/>
          <p:cNvSpPr txBox="1"/>
          <p:nvPr/>
        </p:nvSpPr>
        <p:spPr>
          <a:xfrm>
            <a:off x="1981505" y="6629400"/>
            <a:ext cx="302392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 기반 동적 배정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333195" y="7095744"/>
            <a:ext cx="9715500" cy="571500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r>
              <a:t>selectOutput6/7 · slotBranches[4] ← branchRemainingTotal</a:t>
            </a:r>
          </a:p>
        </p:txBody>
      </p:sp>
      <p:sp>
        <p:nvSpPr>
          <p:cNvPr id="30" name="Text 27"/>
          <p:cNvSpPr txBox="1"/>
          <p:nvPr/>
        </p:nvSpPr>
        <p:spPr>
          <a:xfrm>
            <a:off x="1333195" y="7763256"/>
            <a:ext cx="9715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→ 완료 지점 1/60 → 3/60 (×3배) · 완료 팔레트 8 → 21 (+162%)</a:t>
            </a:r>
          </a:p>
        </p:txBody>
      </p:sp>
      <p:sp>
        <p:nvSpPr>
          <p:cNvPr id="31" name="Text 28"/>
          <p:cNvSpPr txBox="1"/>
          <p:nvPr/>
        </p:nvSpPr>
        <p:spPr>
          <a:xfrm>
            <a:off x="11811305" y="1524305"/>
            <a:ext cx="5524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조건 통제 · 검증 방법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2191695" y="2286000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2191695" y="2581351"/>
            <a:ext cx="476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 · TO-BE 모델 대조 실험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2191695" y="3095244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동일하게 통제한 것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2191695" y="3331159"/>
            <a:ext cx="4763110" cy="184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· 시뮬레이션 엔진: AnyLogic PLE 8.9.8</a:t>
            </a:r>
          </a:p>
          <a:p>
            <a:r>
              <a:t>· 시뮬레이션 시간: 18,000초 (5시간)</a:t>
            </a:r>
          </a:p>
          <a:p>
            <a:r>
              <a:t>· 주문 데이터: database/db.script (SHEET1)</a:t>
            </a:r>
          </a:p>
          <a:p>
            <a:r>
              <a:t>60개 지점 · 8,858 박스 (동일 시드)</a:t>
            </a:r>
          </a:p>
          <a:p>
            <a:r>
              <a:t>· 설비 스펙: 제함기·AGV·컨베이어·</a:t>
            </a:r>
          </a:p>
          <a:p>
            <a:r>
              <a:t>봉함기·파렛타이저 모두 동일</a:t>
            </a:r>
          </a:p>
        </p:txBody>
      </p:sp>
      <p:sp>
        <p:nvSpPr>
          <p:cNvPr id="36" name="Text 33"/>
          <p:cNvSpPr txBox="1"/>
          <p:nvPr/>
        </p:nvSpPr>
        <p:spPr>
          <a:xfrm>
            <a:off x="12191695" y="5373014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달라진 것 (독립 변수)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2191695" y="5608015"/>
            <a:ext cx="476311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라우팅 조건 · AGV 배차 로직</a:t>
            </a:r>
            <a:pPr algn="l" indent="0" marL="0">
              <a:lnSpc>
                <a:spcPts val="2351"/>
              </a:lnSpc>
              <a:buNone/>
            </a:pPr>
            <a:endParaRPr lang="en-US" sz="1400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AGV 대수 · 슬롯 배정 규칙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2191695" y="6436462"/>
            <a:ext cx="4762195" cy="1057046"/>
          </a:xfrm>
          <a:prstGeom prst="rect">
            <a:avLst/>
          </a:prstGeom>
          <a:solidFill>
            <a:srgbClr val="F0A500">
              <a:alpha val="15000"/>
            </a:srgbClr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2191695" y="6436462"/>
            <a:ext cx="38405" cy="105704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402007" y="6569964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2402007" y="6790334"/>
            <a:ext cx="4381805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15 · 20 · 25 · 35대 4수준 실험</a:t>
            </a:r>
            <a:pPr algn="l" indent="0" marL="0">
              <a:lnSpc>
                <a:spcPts val="2138"/>
              </a:lnSpc>
              <a:buNone/>
            </a:pPr>
            <a:endParaRPr lang="en-US" sz="14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 최적</a:t>
            </a:r>
            <a:pPr algn="l" indent="0" marL="0">
              <a:lnSpc>
                <a:spcPts val="2138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(20/35 교착)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8715146"/>
            <a:ext cx="15621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DELIVERABLES · 제출물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8989466"/>
            <a:ext cx="1562161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· AS_IS_Model.alpx (기준) · To_Be_Model.alpx (개선) · database/db.script · PRESENTATION_CHECKLIST.md</a:t>
            </a:r>
          </a:p>
          <a:p>
            <a:r>
              <a:t>· 파라미터 agvCount 등 UI에서 즉시 조정 가능 · 5시간 처리 실적 패널로 KPI 재현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d7f10f282f3c4b4a9471965e2f988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1f4a72c72c5b107a06ac96fda961013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5810098"/>
            <a:ext cx="16040405" cy="17145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5" name="Shape 1"/>
          <p:cNvSpPr/>
          <p:nvPr/>
        </p:nvSpPr>
        <p:spPr>
          <a:xfrm>
            <a:off x="1143000" y="5810098"/>
            <a:ext cx="38405" cy="1714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1143000" y="8001000"/>
            <a:ext cx="16002000" cy="1333195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2" descr="gen-dedup-780468a5104268741574653e0684263a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1143000" y="1904695"/>
            <a:ext cx="1714500" cy="4754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133319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4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 · Q &amp; A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476195"/>
            <a:ext cx="16002000" cy="1800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0" b="1" spc="-22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135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4953305"/>
            <a:ext cx="160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(주)K-Logistics 풀필먼트 센터 · 피킹 프로세스 효율화</a:t>
            </a:r>
            <a:endParaRPr lang="en-US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처리량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6400800"/>
            <a:ext cx="3810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+162%</a:t>
            </a:r>
          </a:p>
        </p:txBody>
      </p:sp>
      <p:sp>
        <p:nvSpPr>
          <p:cNvPr id="13" name="Text 8"/>
          <p:cNvSpPr txBox="1"/>
          <p:nvPr/>
        </p:nvSpPr>
        <p:spPr>
          <a:xfrm>
            <a:off x="1524305" y="7105802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1.6 → 4.2 팔레트/hr</a:t>
            </a:r>
          </a:p>
        </p:txBody>
      </p:sp>
      <p:sp>
        <p:nvSpPr>
          <p:cNvPr id="14" name="Text 9"/>
          <p:cNvSpPr txBox="1"/>
          <p:nvPr/>
        </p:nvSpPr>
        <p:spPr>
          <a:xfrm>
            <a:off x="5715000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박스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0" y="6400800"/>
            <a:ext cx="3810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+416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5715000" y="7105802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256 → 672 박스</a:t>
            </a:r>
          </a:p>
        </p:txBody>
      </p:sp>
      <p:sp>
        <p:nvSpPr>
          <p:cNvPr id="17" name="Text 12"/>
          <p:cNvSpPr txBox="1"/>
          <p:nvPr/>
        </p:nvSpPr>
        <p:spPr>
          <a:xfrm>
            <a:off x="9905695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9905695" y="6400800"/>
            <a:ext cx="3810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−15대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9905695" y="7105802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→ 25대 (−37.5%)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3716000" y="6096305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0" y="6400800"/>
            <a:ext cx="3429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×3배</a:t>
            </a:r>
            <a:endParaRPr lang="en-US" sz="4800" dirty="0"/>
          </a:p>
        </p:txBody>
      </p:sp>
      <p:sp>
        <p:nvSpPr>
          <p:cNvPr id="22" name="Text 17"/>
          <p:cNvSpPr txBox="1"/>
          <p:nvPr/>
        </p:nvSpPr>
        <p:spPr>
          <a:xfrm>
            <a:off x="13716000" y="7105802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1/60 → 3/60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524305" y="8287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524305" y="8544154"/>
            <a:ext cx="5715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인하이트 (Inhite)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1524305" y="9020556"/>
            <a:ext cx="5715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김철중 · 김시현 · 정민재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810805" y="8287207"/>
            <a:ext cx="6096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SCHOOL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810805" y="8544154"/>
            <a:ext cx="6096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인하공업전문대학 컴퓨터정보공학과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7810805" y="8915400"/>
            <a:ext cx="6096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지도교수 조규철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14287500" y="8287207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4287500" y="8544154"/>
            <a:ext cx="285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2026. 05. 17.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4287500" y="8887054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본선 발표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2026-07-06T09:58:09Z</dcterms:created>
  <dcterms:modified xsi:type="dcterms:W3CDTF">2026-07-06T09:58:09Z</dcterms:modified>
</cp:coreProperties>
</file>